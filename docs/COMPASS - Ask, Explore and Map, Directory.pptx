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Libre Baskerville" panose="02000000000000000000" pitchFamily="2" charset="0"/>
      <p:regular r:id="rId10"/>
      <p:bold r:id="rId11"/>
      <p:italic r:id="rId12"/>
    </p:embeddedFont>
    <p:embeddedFont>
      <p:font typeface="Public Sans"/>
      <p:regular r:id="rId13"/>
      <p:bold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88" d="100"/>
          <a:sy n="88" d="100"/>
        </p:scale>
        <p:origin x="208" y="9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7390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Bird's-eye view before the detail. The menu on the left is what everyone sees when they open COMPASS. Seven pages in two halves: finding and keeping knowledge (Ask Compass, Explore and Map, Ecosystem Directory), which I present now; and keeping it current and deciding what enters it (Dashboard, Monitor and Update, Data Feed, Review Results), which Ismail presents after me. Whichever page a record comes from, a person decides before it enters the directory.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agents in general. Two read and research: Ask Compass answers from the directory, Explore and Map researches the web and builds a map (both mine). Two keep things current: Monitor runs scheduled searches on a topic, Update re-reads an organization's own pages and proposes changes (both Ismail's). Whatever an agent finds, a person verifies or reviews it before it enters the directory, and Ask then reads from that same directory. Directory counts from a read-only check on 30 Oct 2026; recheck just before presenting.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Ask Compass works only on what we already hold. Every source is labelled Verified database, Parked or Your document, so nobody mistakes an unverified record for a checked one. Demo: ask the phosphate question, then click Research this on the web to hand over to Explore and Map.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first message always gets questions back: what type, and where. That is what makes the map fit the need. One type per search; a follow-up can switch to people or events. Saving goes through the Data Feed: new organizations enter as AI mapped, and anything that matches an existing record goes to Review Results, so nothing is duplicated. Cost is shown on screen and capped at $2 per map.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Show the Energy Transition, Texas, Houston filter, open a profile and its sources, then Export. Be honest: edits are not saved yet, Delete works for organizations only, and there are no logins yet, so Owner reads Not recorded. Recheck the 43 just before presenting.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 fair: chatbots can search the web and cite sources now too. The difference is that COMPASS knows what GHUS already holds and keeps a shared, checked record. Each row points back to something shown in the demo.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Measured on all 22 completed maps, 13 Sept to 30 Oct 2026: 416 results (259 organizations, 96 people, 61 events). Research time counts only the searching, not the time a map waited for a reply; range 1 to 11 min. Cost includes follow-up and people searches; range $0.22 to $1.45, never over the $2 cap. Every result has at least one source link (633 links in total). Recompute before presenting.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2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F2329"/>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96070"/>
            <a:ext cx="10566400" cy="4149130"/>
          </a:xfrm>
          <a:prstGeom prst="rect">
            <a:avLst/>
          </a:prstGeom>
          <a:noFill/>
          <a:ln/>
        </p:spPr>
        <p:txBody>
          <a:bodyPr wrap="square" lIns="0" tIns="0" rIns="0" bIns="0" rtlCol="0" anchor="t"/>
          <a:lstStyle>
            <a:lvl1pPr marL="0" indent="0" algn="l">
              <a:lnSpc>
                <a:spcPct val="140000"/>
              </a:lnSpc>
              <a:buNone/>
              <a:defRPr lang="en-US" sz="1600" dirty="0">
                <a:solidFill>
                  <a:srgbClr val="1F2329"/>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2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F2329"/>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96070"/>
            <a:ext cx="10566400" cy="4149130"/>
          </a:xfrm>
          <a:prstGeom prst="rect">
            <a:avLst/>
          </a:prstGeom>
          <a:noFill/>
          <a:ln/>
        </p:spPr>
        <p:txBody>
          <a:bodyPr wrap="square" lIns="0" tIns="0" rIns="0" bIns="0" rtlCol="0" anchor="t"/>
          <a:lstStyle>
            <a:lvl1pPr marL="0" indent="0" algn="l">
              <a:lnSpc>
                <a:spcPct val="140000"/>
              </a:lnSpc>
              <a:buNone/>
              <a:defRPr lang="en-US" sz="1600" dirty="0">
                <a:solidFill>
                  <a:srgbClr val="1F2329"/>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152144"/>
            <a:ext cx="10881360" cy="548640"/>
          </a:xfrm>
        </p:spPr>
        <p:txBody>
          <a:bodyPr/>
          <a:lstStyle/>
          <a:p>
            <a:r>
              <a:rPr sz="3000" b="1">
                <a:solidFill>
                  <a:srgbClr val="1F2329"/>
                </a:solidFill>
                <a:latin typeface="Libre Baskerville"/>
              </a:rPr>
              <a:t>COMPASS at a glance: seven pages, one team</a:t>
            </a:r>
          </a:p>
        </p:txBody>
      </p:sp>
      <p:sp>
        <p:nvSpPr>
          <p:cNvPr id="3" name="Eyebrow"/>
          <p:cNvSpPr txBox="1"/>
          <p:nvPr/>
        </p:nvSpPr>
        <p:spPr>
          <a:xfrm>
            <a:off x="813816" y="813816"/>
            <a:ext cx="10881360" cy="237744"/>
          </a:xfrm>
          <a:prstGeom prst="rect">
            <a:avLst/>
          </a:prstGeom>
          <a:noFill/>
        </p:spPr>
        <p:txBody>
          <a:bodyPr wrap="square" lIns="0" tIns="0" rIns="0" bIns="0" anchor="t">
            <a:spAutoFit/>
          </a:bodyPr>
          <a:lstStyle/>
          <a:p>
            <a:pPr algn="l"/>
            <a:r>
              <a:rPr sz="1200" b="1" i="0">
                <a:solidFill>
                  <a:srgbClr val="C2481C"/>
                </a:solidFill>
                <a:latin typeface="Public Sans"/>
              </a:rPr>
              <a:t>THE PLATFORM</a:t>
            </a:r>
          </a:p>
        </p:txBody>
      </p:sp>
      <p:sp>
        <p:nvSpPr>
          <p:cNvPr id="4" name="Footer"/>
          <p:cNvSpPr txBox="1"/>
          <p:nvPr/>
        </p:nvSpPr>
        <p:spPr>
          <a:xfrm>
            <a:off x="813816" y="6236208"/>
            <a:ext cx="10515600" cy="237744"/>
          </a:xfrm>
          <a:prstGeom prst="rect">
            <a:avLst/>
          </a:prstGeom>
          <a:noFill/>
        </p:spPr>
        <p:txBody>
          <a:bodyPr wrap="square" lIns="0" tIns="0" rIns="0" bIns="0" anchor="t">
            <a:spAutoFit/>
          </a:bodyPr>
          <a:lstStyle/>
          <a:p>
            <a:pPr algn="l"/>
            <a:r>
              <a:rPr sz="1200" b="0" i="0">
                <a:solidFill>
                  <a:srgbClr val="6B7079"/>
                </a:solidFill>
                <a:latin typeface="Public Sans"/>
              </a:rPr>
              <a:t>COMPASS · Ecosystem Intelligence · 1</a:t>
            </a:r>
          </a:p>
        </p:txBody>
      </p:sp>
      <p:sp>
        <p:nvSpPr>
          <p:cNvPr id="5" name="Screenshot frame"/>
          <p:cNvSpPr/>
          <p:nvPr/>
        </p:nvSpPr>
        <p:spPr>
          <a:xfrm>
            <a:off x="777240" y="1883664"/>
            <a:ext cx="5742432" cy="361645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Screenshot: Ecosystem Directory" descr="shot-directory.png"/>
          <p:cNvPicPr>
            <a:picLocks noChangeAspect="1"/>
          </p:cNvPicPr>
          <p:nvPr/>
        </p:nvPicPr>
        <p:blipFill>
          <a:blip r:embed="rId3"/>
          <a:stretch>
            <a:fillRect/>
          </a:stretch>
        </p:blipFill>
        <p:spPr>
          <a:xfrm>
            <a:off x="813816" y="1920240"/>
            <a:ext cx="5669280" cy="3543300"/>
          </a:xfrm>
          <a:prstGeom prst="rect">
            <a:avLst/>
          </a:prstGeom>
        </p:spPr>
      </p:pic>
      <p:sp>
        <p:nvSpPr>
          <p:cNvPr id="7" name="Caption"/>
          <p:cNvSpPr txBox="1"/>
          <p:nvPr/>
        </p:nvSpPr>
        <p:spPr>
          <a:xfrm>
            <a:off x="813816" y="5609844"/>
            <a:ext cx="5669280" cy="237744"/>
          </a:xfrm>
          <a:prstGeom prst="rect">
            <a:avLst/>
          </a:prstGeom>
          <a:noFill/>
        </p:spPr>
        <p:txBody>
          <a:bodyPr wrap="square" lIns="0" tIns="0" rIns="0" bIns="0" anchor="t">
            <a:spAutoFit/>
          </a:bodyPr>
          <a:lstStyle/>
          <a:p>
            <a:pPr algn="l"/>
            <a:r>
              <a:rPr sz="1100" b="0" i="0">
                <a:solidFill>
                  <a:srgbClr val="6B7079"/>
                </a:solidFill>
                <a:latin typeface="Public Sans"/>
              </a:rPr>
              <a:t>The live platform: Ecosystem Directory, 10/30/2026</a:t>
            </a:r>
          </a:p>
        </p:txBody>
      </p:sp>
      <p:sp>
        <p:nvSpPr>
          <p:cNvPr id="8" name="TextBox 7"/>
          <p:cNvSpPr txBox="1"/>
          <p:nvPr/>
        </p:nvSpPr>
        <p:spPr>
          <a:xfrm>
            <a:off x="6812280" y="1883664"/>
            <a:ext cx="4562856" cy="219456"/>
          </a:xfrm>
          <a:prstGeom prst="rect">
            <a:avLst/>
          </a:prstGeom>
          <a:noFill/>
        </p:spPr>
        <p:txBody>
          <a:bodyPr wrap="square" lIns="0" tIns="0" rIns="0" bIns="0" anchor="t">
            <a:spAutoFit/>
          </a:bodyPr>
          <a:lstStyle/>
          <a:p>
            <a:pPr algn="l"/>
            <a:r>
              <a:rPr sz="1100" b="1" i="0">
                <a:solidFill>
                  <a:srgbClr val="C2481C"/>
                </a:solidFill>
                <a:latin typeface="Public Sans"/>
              </a:rPr>
              <a:t>PRESENTED NOW · NOUHAILA</a:t>
            </a:r>
          </a:p>
        </p:txBody>
      </p:sp>
      <p:sp>
        <p:nvSpPr>
          <p:cNvPr id="9" name="Presented Now · Nouhaila"/>
          <p:cNvSpPr/>
          <p:nvPr/>
        </p:nvSpPr>
        <p:spPr>
          <a:xfrm>
            <a:off x="6812280" y="2176272"/>
            <a:ext cx="4562856" cy="1481328"/>
          </a:xfrm>
          <a:prstGeom prst="roundRect">
            <a:avLst>
              <a:gd name="adj" fmla="val 4938"/>
            </a:avLst>
          </a:prstGeom>
          <a:solidFill>
            <a:srgbClr val="FD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76872" y="2231136"/>
            <a:ext cx="1600200" cy="457200"/>
          </a:xfrm>
          <a:prstGeom prst="rect">
            <a:avLst/>
          </a:prstGeom>
          <a:noFill/>
        </p:spPr>
        <p:txBody>
          <a:bodyPr wrap="square" lIns="0" tIns="0" rIns="0" bIns="0" anchor="ctr">
            <a:spAutoFit/>
          </a:bodyPr>
          <a:lstStyle/>
          <a:p>
            <a:pPr algn="l"/>
            <a:r>
              <a:rPr sz="1300" b="1" i="0">
                <a:solidFill>
                  <a:srgbClr val="1F2329"/>
                </a:solidFill>
                <a:latin typeface="Public Sans"/>
              </a:rPr>
              <a:t>Ask Compass</a:t>
            </a:r>
          </a:p>
        </p:txBody>
      </p:sp>
      <p:sp>
        <p:nvSpPr>
          <p:cNvPr id="11" name="TextBox 10"/>
          <p:cNvSpPr txBox="1"/>
          <p:nvPr/>
        </p:nvSpPr>
        <p:spPr>
          <a:xfrm>
            <a:off x="8641080" y="2231136"/>
            <a:ext cx="2596896" cy="457200"/>
          </a:xfrm>
          <a:prstGeom prst="rect">
            <a:avLst/>
          </a:prstGeom>
          <a:noFill/>
        </p:spPr>
        <p:txBody>
          <a:bodyPr wrap="square" lIns="0" tIns="0" rIns="0" bIns="0" anchor="ctr">
            <a:spAutoFit/>
          </a:bodyPr>
          <a:lstStyle/>
          <a:p>
            <a:pPr algn="l"/>
            <a:r>
              <a:rPr sz="1200" b="0" i="0">
                <a:solidFill>
                  <a:srgbClr val="4A4F57"/>
                </a:solidFill>
                <a:latin typeface="Public Sans"/>
              </a:rPr>
              <a:t>Questions answered from the directory, cited</a:t>
            </a:r>
          </a:p>
        </p:txBody>
      </p:sp>
      <p:sp>
        <p:nvSpPr>
          <p:cNvPr id="12" name="TextBox 11"/>
          <p:cNvSpPr txBox="1"/>
          <p:nvPr/>
        </p:nvSpPr>
        <p:spPr>
          <a:xfrm>
            <a:off x="6976872" y="2688336"/>
            <a:ext cx="1600200" cy="457200"/>
          </a:xfrm>
          <a:prstGeom prst="rect">
            <a:avLst/>
          </a:prstGeom>
          <a:noFill/>
        </p:spPr>
        <p:txBody>
          <a:bodyPr wrap="square" lIns="0" tIns="0" rIns="0" bIns="0" anchor="ctr">
            <a:spAutoFit/>
          </a:bodyPr>
          <a:lstStyle/>
          <a:p>
            <a:pPr algn="l"/>
            <a:r>
              <a:rPr sz="1300" b="1" i="0">
                <a:solidFill>
                  <a:srgbClr val="1F2329"/>
                </a:solidFill>
                <a:latin typeface="Public Sans"/>
              </a:rPr>
              <a:t>Explore and Map</a:t>
            </a:r>
          </a:p>
        </p:txBody>
      </p:sp>
      <p:sp>
        <p:nvSpPr>
          <p:cNvPr id="13" name="TextBox 12"/>
          <p:cNvSpPr txBox="1"/>
          <p:nvPr/>
        </p:nvSpPr>
        <p:spPr>
          <a:xfrm>
            <a:off x="8641080" y="2688336"/>
            <a:ext cx="2596896" cy="457200"/>
          </a:xfrm>
          <a:prstGeom prst="rect">
            <a:avLst/>
          </a:prstGeom>
          <a:noFill/>
        </p:spPr>
        <p:txBody>
          <a:bodyPr wrap="square" lIns="0" tIns="0" rIns="0" bIns="0" anchor="ctr">
            <a:spAutoFit/>
          </a:bodyPr>
          <a:lstStyle/>
          <a:p>
            <a:pPr algn="l"/>
            <a:r>
              <a:rPr sz="1200" b="0" i="0">
                <a:solidFill>
                  <a:srgbClr val="4A4F57"/>
                </a:solidFill>
                <a:latin typeface="Public Sans"/>
              </a:rPr>
              <a:t>Web research that turns a question into a map</a:t>
            </a:r>
          </a:p>
        </p:txBody>
      </p:sp>
      <p:sp>
        <p:nvSpPr>
          <p:cNvPr id="14" name="TextBox 13"/>
          <p:cNvSpPr txBox="1"/>
          <p:nvPr/>
        </p:nvSpPr>
        <p:spPr>
          <a:xfrm>
            <a:off x="6976872" y="3145536"/>
            <a:ext cx="1600200" cy="457200"/>
          </a:xfrm>
          <a:prstGeom prst="rect">
            <a:avLst/>
          </a:prstGeom>
          <a:noFill/>
        </p:spPr>
        <p:txBody>
          <a:bodyPr wrap="square" lIns="0" tIns="0" rIns="0" bIns="0" anchor="ctr">
            <a:spAutoFit/>
          </a:bodyPr>
          <a:lstStyle/>
          <a:p>
            <a:pPr algn="l"/>
            <a:r>
              <a:rPr sz="1300" b="1" i="0">
                <a:solidFill>
                  <a:srgbClr val="1F2329"/>
                </a:solidFill>
                <a:latin typeface="Public Sans"/>
              </a:rPr>
              <a:t>Ecosystem Directory</a:t>
            </a:r>
          </a:p>
        </p:txBody>
      </p:sp>
      <p:sp>
        <p:nvSpPr>
          <p:cNvPr id="15" name="TextBox 14"/>
          <p:cNvSpPr txBox="1"/>
          <p:nvPr/>
        </p:nvSpPr>
        <p:spPr>
          <a:xfrm>
            <a:off x="8641080" y="3145536"/>
            <a:ext cx="2596896" cy="457200"/>
          </a:xfrm>
          <a:prstGeom prst="rect">
            <a:avLst/>
          </a:prstGeom>
          <a:noFill/>
        </p:spPr>
        <p:txBody>
          <a:bodyPr wrap="square" lIns="0" tIns="0" rIns="0" bIns="0" anchor="ctr">
            <a:spAutoFit/>
          </a:bodyPr>
          <a:lstStyle/>
          <a:p>
            <a:pPr algn="l"/>
            <a:r>
              <a:rPr sz="1200" b="0" i="0">
                <a:solidFill>
                  <a:srgbClr val="4A4F57"/>
                </a:solidFill>
                <a:latin typeface="Public Sans"/>
              </a:rPr>
              <a:t>Every verified organization, hub, person and event</a:t>
            </a:r>
          </a:p>
        </p:txBody>
      </p:sp>
      <p:sp>
        <p:nvSpPr>
          <p:cNvPr id="16" name="TextBox 15"/>
          <p:cNvSpPr txBox="1"/>
          <p:nvPr/>
        </p:nvSpPr>
        <p:spPr>
          <a:xfrm>
            <a:off x="6812280" y="3931920"/>
            <a:ext cx="4562856" cy="219456"/>
          </a:xfrm>
          <a:prstGeom prst="rect">
            <a:avLst/>
          </a:prstGeom>
          <a:noFill/>
        </p:spPr>
        <p:txBody>
          <a:bodyPr wrap="square" lIns="0" tIns="0" rIns="0" bIns="0" anchor="t">
            <a:spAutoFit/>
          </a:bodyPr>
          <a:lstStyle/>
          <a:p>
            <a:pPr algn="l"/>
            <a:r>
              <a:rPr sz="1100" b="1" i="0">
                <a:solidFill>
                  <a:srgbClr val="6B7079"/>
                </a:solidFill>
                <a:latin typeface="Public Sans"/>
              </a:rPr>
              <a:t>PRESENTED NEXT · ISMAIL</a:t>
            </a:r>
          </a:p>
        </p:txBody>
      </p:sp>
      <p:sp>
        <p:nvSpPr>
          <p:cNvPr id="17" name="Presented Next · Ismail"/>
          <p:cNvSpPr/>
          <p:nvPr/>
        </p:nvSpPr>
        <p:spPr>
          <a:xfrm>
            <a:off x="6812280" y="4224528"/>
            <a:ext cx="4562856" cy="1938528"/>
          </a:xfrm>
          <a:prstGeom prst="roundRect">
            <a:avLst>
              <a:gd name="adj" fmla="val 3773"/>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76872" y="4279392"/>
            <a:ext cx="1600200" cy="457200"/>
          </a:xfrm>
          <a:prstGeom prst="rect">
            <a:avLst/>
          </a:prstGeom>
          <a:noFill/>
        </p:spPr>
        <p:txBody>
          <a:bodyPr wrap="square" lIns="0" tIns="0" rIns="0" bIns="0" anchor="ctr">
            <a:spAutoFit/>
          </a:bodyPr>
          <a:lstStyle/>
          <a:p>
            <a:pPr algn="l"/>
            <a:r>
              <a:rPr sz="1300" b="1" i="0">
                <a:solidFill>
                  <a:srgbClr val="1F2329"/>
                </a:solidFill>
                <a:latin typeface="Public Sans"/>
              </a:rPr>
              <a:t>Dashboard</a:t>
            </a:r>
          </a:p>
        </p:txBody>
      </p:sp>
      <p:sp>
        <p:nvSpPr>
          <p:cNvPr id="19" name="TextBox 18"/>
          <p:cNvSpPr txBox="1"/>
          <p:nvPr/>
        </p:nvSpPr>
        <p:spPr>
          <a:xfrm>
            <a:off x="8641080" y="4279392"/>
            <a:ext cx="2596896" cy="457200"/>
          </a:xfrm>
          <a:prstGeom prst="rect">
            <a:avLst/>
          </a:prstGeom>
          <a:noFill/>
        </p:spPr>
        <p:txBody>
          <a:bodyPr wrap="square" lIns="0" tIns="0" rIns="0" bIns="0" anchor="ctr">
            <a:spAutoFit/>
          </a:bodyPr>
          <a:lstStyle/>
          <a:p>
            <a:pPr algn="l"/>
            <a:r>
              <a:rPr sz="1200" b="0" i="0">
                <a:solidFill>
                  <a:srgbClr val="4A4F57"/>
                </a:solidFill>
                <a:latin typeface="Public Sans"/>
              </a:rPr>
              <a:t>Running and finished searches, weekly figures</a:t>
            </a:r>
          </a:p>
        </p:txBody>
      </p:sp>
      <p:sp>
        <p:nvSpPr>
          <p:cNvPr id="20" name="TextBox 19"/>
          <p:cNvSpPr txBox="1"/>
          <p:nvPr/>
        </p:nvSpPr>
        <p:spPr>
          <a:xfrm>
            <a:off x="6976872" y="4736592"/>
            <a:ext cx="1600200" cy="457200"/>
          </a:xfrm>
          <a:prstGeom prst="rect">
            <a:avLst/>
          </a:prstGeom>
          <a:noFill/>
        </p:spPr>
        <p:txBody>
          <a:bodyPr wrap="square" lIns="0" tIns="0" rIns="0" bIns="0" anchor="ctr">
            <a:spAutoFit/>
          </a:bodyPr>
          <a:lstStyle/>
          <a:p>
            <a:pPr algn="l"/>
            <a:r>
              <a:rPr sz="1300" b="1" i="0">
                <a:solidFill>
                  <a:srgbClr val="1F2329"/>
                </a:solidFill>
                <a:latin typeface="Public Sans"/>
              </a:rPr>
              <a:t>Monitor and Update</a:t>
            </a:r>
          </a:p>
        </p:txBody>
      </p:sp>
      <p:sp>
        <p:nvSpPr>
          <p:cNvPr id="21" name="TextBox 20"/>
          <p:cNvSpPr txBox="1"/>
          <p:nvPr/>
        </p:nvSpPr>
        <p:spPr>
          <a:xfrm>
            <a:off x="8641080" y="4736592"/>
            <a:ext cx="2596896" cy="457200"/>
          </a:xfrm>
          <a:prstGeom prst="rect">
            <a:avLst/>
          </a:prstGeom>
          <a:noFill/>
        </p:spPr>
        <p:txBody>
          <a:bodyPr wrap="square" lIns="0" tIns="0" rIns="0" bIns="0" anchor="ctr">
            <a:spAutoFit/>
          </a:bodyPr>
          <a:lstStyle/>
          <a:p>
            <a:pPr algn="l"/>
            <a:r>
              <a:rPr sz="1200" b="0" i="0">
                <a:solidFill>
                  <a:srgbClr val="4A4F57"/>
                </a:solidFill>
                <a:latin typeface="Public Sans"/>
              </a:rPr>
              <a:t>Scheduled searches on a topic, sector or area</a:t>
            </a:r>
          </a:p>
        </p:txBody>
      </p:sp>
      <p:sp>
        <p:nvSpPr>
          <p:cNvPr id="22" name="TextBox 21"/>
          <p:cNvSpPr txBox="1"/>
          <p:nvPr/>
        </p:nvSpPr>
        <p:spPr>
          <a:xfrm>
            <a:off x="6976872" y="5193792"/>
            <a:ext cx="1600200" cy="457200"/>
          </a:xfrm>
          <a:prstGeom prst="rect">
            <a:avLst/>
          </a:prstGeom>
          <a:noFill/>
        </p:spPr>
        <p:txBody>
          <a:bodyPr wrap="square" lIns="0" tIns="0" rIns="0" bIns="0" anchor="ctr">
            <a:spAutoFit/>
          </a:bodyPr>
          <a:lstStyle/>
          <a:p>
            <a:pPr algn="l"/>
            <a:r>
              <a:rPr sz="1300" b="1" i="0">
                <a:solidFill>
                  <a:srgbClr val="1F2329"/>
                </a:solidFill>
                <a:latin typeface="Public Sans"/>
              </a:rPr>
              <a:t>Data Feed</a:t>
            </a:r>
          </a:p>
        </p:txBody>
      </p:sp>
      <p:sp>
        <p:nvSpPr>
          <p:cNvPr id="23" name="TextBox 22"/>
          <p:cNvSpPr txBox="1"/>
          <p:nvPr/>
        </p:nvSpPr>
        <p:spPr>
          <a:xfrm>
            <a:off x="8641080" y="5193792"/>
            <a:ext cx="2596896" cy="457200"/>
          </a:xfrm>
          <a:prstGeom prst="rect">
            <a:avLst/>
          </a:prstGeom>
          <a:noFill/>
        </p:spPr>
        <p:txBody>
          <a:bodyPr wrap="square" lIns="0" tIns="0" rIns="0" bIns="0" anchor="ctr">
            <a:spAutoFit/>
          </a:bodyPr>
          <a:lstStyle/>
          <a:p>
            <a:pPr algn="l"/>
            <a:r>
              <a:rPr sz="1200" b="0" i="0">
                <a:solidFill>
                  <a:srgbClr val="4A4F57"/>
                </a:solidFill>
                <a:latin typeface="Public Sans"/>
              </a:rPr>
              <a:t>Add records from Excel, CSV or by hand</a:t>
            </a:r>
          </a:p>
        </p:txBody>
      </p:sp>
      <p:sp>
        <p:nvSpPr>
          <p:cNvPr id="24" name="TextBox 23"/>
          <p:cNvSpPr txBox="1"/>
          <p:nvPr/>
        </p:nvSpPr>
        <p:spPr>
          <a:xfrm>
            <a:off x="6976872" y="5650992"/>
            <a:ext cx="1600200" cy="457200"/>
          </a:xfrm>
          <a:prstGeom prst="rect">
            <a:avLst/>
          </a:prstGeom>
          <a:noFill/>
        </p:spPr>
        <p:txBody>
          <a:bodyPr wrap="square" lIns="0" tIns="0" rIns="0" bIns="0" anchor="ctr">
            <a:spAutoFit/>
          </a:bodyPr>
          <a:lstStyle/>
          <a:p>
            <a:pPr algn="l"/>
            <a:r>
              <a:rPr sz="1300" b="1" i="0">
                <a:solidFill>
                  <a:srgbClr val="1F2329"/>
                </a:solidFill>
                <a:latin typeface="Public Sans"/>
              </a:rPr>
              <a:t>Review Results</a:t>
            </a:r>
          </a:p>
        </p:txBody>
      </p:sp>
      <p:sp>
        <p:nvSpPr>
          <p:cNvPr id="25" name="TextBox 24"/>
          <p:cNvSpPr txBox="1"/>
          <p:nvPr/>
        </p:nvSpPr>
        <p:spPr>
          <a:xfrm>
            <a:off x="8641080" y="5650992"/>
            <a:ext cx="2596896" cy="457200"/>
          </a:xfrm>
          <a:prstGeom prst="rect">
            <a:avLst/>
          </a:prstGeom>
          <a:noFill/>
        </p:spPr>
        <p:txBody>
          <a:bodyPr wrap="square" lIns="0" tIns="0" rIns="0" bIns="0" anchor="ctr">
            <a:spAutoFit/>
          </a:bodyPr>
          <a:lstStyle/>
          <a:p>
            <a:pPr algn="l"/>
            <a:r>
              <a:rPr sz="1200" b="0" i="0">
                <a:solidFill>
                  <a:srgbClr val="4A4F57"/>
                </a:solidFill>
                <a:latin typeface="Public Sans"/>
              </a:rPr>
              <a:t>A person admits each new find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232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152144"/>
            <a:ext cx="10881360" cy="548640"/>
          </a:xfrm>
        </p:spPr>
        <p:txBody>
          <a:bodyPr/>
          <a:lstStyle/>
          <a:p>
            <a:r>
              <a:rPr sz="3000" b="1">
                <a:solidFill>
                  <a:srgbClr val="F5F2ED"/>
                </a:solidFill>
                <a:latin typeface="Libre Baskerville"/>
              </a:rPr>
              <a:t>The agents behind COMPASS</a:t>
            </a:r>
          </a:p>
        </p:txBody>
      </p:sp>
      <p:sp>
        <p:nvSpPr>
          <p:cNvPr id="3" name="Eyebrow"/>
          <p:cNvSpPr txBox="1"/>
          <p:nvPr/>
        </p:nvSpPr>
        <p:spPr>
          <a:xfrm>
            <a:off x="813816" y="813816"/>
            <a:ext cx="10881360" cy="237744"/>
          </a:xfrm>
          <a:prstGeom prst="rect">
            <a:avLst/>
          </a:prstGeom>
          <a:noFill/>
        </p:spPr>
        <p:txBody>
          <a:bodyPr wrap="square" lIns="0" tIns="0" rIns="0" bIns="0" anchor="t">
            <a:spAutoFit/>
          </a:bodyPr>
          <a:lstStyle/>
          <a:p>
            <a:pPr algn="l"/>
            <a:r>
              <a:rPr sz="1200" b="1" i="0">
                <a:solidFill>
                  <a:srgbClr val="E8956F"/>
                </a:solidFill>
                <a:latin typeface="Public Sans"/>
              </a:rPr>
              <a:t>HOW IT WORKS</a:t>
            </a:r>
          </a:p>
        </p:txBody>
      </p:sp>
      <p:sp>
        <p:nvSpPr>
          <p:cNvPr id="4" name="Footer"/>
          <p:cNvSpPr txBox="1"/>
          <p:nvPr/>
        </p:nvSpPr>
        <p:spPr>
          <a:xfrm>
            <a:off x="813816" y="6236208"/>
            <a:ext cx="10515600" cy="237744"/>
          </a:xfrm>
          <a:prstGeom prst="rect">
            <a:avLst/>
          </a:prstGeom>
          <a:noFill/>
        </p:spPr>
        <p:txBody>
          <a:bodyPr wrap="square" lIns="0" tIns="0" rIns="0" bIns="0" anchor="t">
            <a:spAutoFit/>
          </a:bodyPr>
          <a:lstStyle/>
          <a:p>
            <a:pPr algn="l"/>
            <a:r>
              <a:rPr sz="1200" b="0" i="0">
                <a:solidFill>
                  <a:srgbClr val="9AA0A8"/>
                </a:solidFill>
                <a:latin typeface="Public Sans"/>
              </a:rPr>
              <a:t>COMPASS · Ecosystem Intelligence · 2 · Directory counts as of 10/30/2026</a:t>
            </a:r>
          </a:p>
        </p:txBody>
      </p:sp>
      <p:sp>
        <p:nvSpPr>
          <p:cNvPr id="5" name="TextBox 4"/>
          <p:cNvSpPr txBox="1"/>
          <p:nvPr/>
        </p:nvSpPr>
        <p:spPr>
          <a:xfrm>
            <a:off x="813816" y="1938528"/>
            <a:ext cx="1737360" cy="219456"/>
          </a:xfrm>
          <a:prstGeom prst="rect">
            <a:avLst/>
          </a:prstGeom>
          <a:noFill/>
        </p:spPr>
        <p:txBody>
          <a:bodyPr wrap="square" lIns="0" tIns="0" rIns="0" bIns="0" anchor="t">
            <a:spAutoFit/>
          </a:bodyPr>
          <a:lstStyle/>
          <a:p>
            <a:pPr algn="l"/>
            <a:r>
              <a:rPr sz="1100" b="1" i="0">
                <a:solidFill>
                  <a:srgbClr val="E8956F"/>
                </a:solidFill>
                <a:latin typeface="Public Sans"/>
              </a:rPr>
              <a:t>SOURCES</a:t>
            </a:r>
          </a:p>
        </p:txBody>
      </p:sp>
      <p:sp>
        <p:nvSpPr>
          <p:cNvPr id="6" name="Source"/>
          <p:cNvSpPr/>
          <p:nvPr/>
        </p:nvSpPr>
        <p:spPr>
          <a:xfrm>
            <a:off x="813816" y="2286000"/>
            <a:ext cx="1737360" cy="384048"/>
          </a:xfrm>
          <a:prstGeom prst="roundRect">
            <a:avLst>
              <a:gd name="adj" fmla="val 1904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1832" y="2286000"/>
            <a:ext cx="1554480" cy="384048"/>
          </a:xfrm>
          <a:prstGeom prst="rect">
            <a:avLst/>
          </a:prstGeom>
          <a:noFill/>
        </p:spPr>
        <p:txBody>
          <a:bodyPr wrap="square" lIns="0" tIns="0" rIns="0" bIns="0" anchor="ctr">
            <a:spAutoFit/>
          </a:bodyPr>
          <a:lstStyle/>
          <a:p>
            <a:pPr algn="l"/>
            <a:r>
              <a:rPr sz="1200" b="0" i="0">
                <a:solidFill>
                  <a:srgbClr val="C9CCD1"/>
                </a:solidFill>
                <a:latin typeface="Public Sans"/>
              </a:rPr>
              <a:t>Public websites</a:t>
            </a:r>
          </a:p>
        </p:txBody>
      </p:sp>
      <p:sp>
        <p:nvSpPr>
          <p:cNvPr id="8" name="Source"/>
          <p:cNvSpPr/>
          <p:nvPr/>
        </p:nvSpPr>
        <p:spPr>
          <a:xfrm>
            <a:off x="813816" y="2743200"/>
            <a:ext cx="1737360" cy="384048"/>
          </a:xfrm>
          <a:prstGeom prst="roundRect">
            <a:avLst>
              <a:gd name="adj" fmla="val 1904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2743200"/>
            <a:ext cx="1554480" cy="384048"/>
          </a:xfrm>
          <a:prstGeom prst="rect">
            <a:avLst/>
          </a:prstGeom>
          <a:noFill/>
        </p:spPr>
        <p:txBody>
          <a:bodyPr wrap="square" lIns="0" tIns="0" rIns="0" bIns="0" anchor="ctr">
            <a:spAutoFit/>
          </a:bodyPr>
          <a:lstStyle/>
          <a:p>
            <a:pPr algn="l"/>
            <a:r>
              <a:rPr sz="1200" b="0" i="0">
                <a:solidFill>
                  <a:srgbClr val="C9CCD1"/>
                </a:solidFill>
                <a:latin typeface="Public Sans"/>
              </a:rPr>
              <a:t>The directory</a:t>
            </a:r>
          </a:p>
        </p:txBody>
      </p:sp>
      <p:sp>
        <p:nvSpPr>
          <p:cNvPr id="10" name="Source"/>
          <p:cNvSpPr/>
          <p:nvPr/>
        </p:nvSpPr>
        <p:spPr>
          <a:xfrm>
            <a:off x="813816" y="3200400"/>
            <a:ext cx="1737360" cy="384048"/>
          </a:xfrm>
          <a:prstGeom prst="roundRect">
            <a:avLst>
              <a:gd name="adj" fmla="val 1904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 y="3200400"/>
            <a:ext cx="1554480" cy="384048"/>
          </a:xfrm>
          <a:prstGeom prst="rect">
            <a:avLst/>
          </a:prstGeom>
          <a:noFill/>
        </p:spPr>
        <p:txBody>
          <a:bodyPr wrap="square" lIns="0" tIns="0" rIns="0" bIns="0" anchor="ctr">
            <a:spAutoFit/>
          </a:bodyPr>
          <a:lstStyle/>
          <a:p>
            <a:pPr algn="l"/>
            <a:r>
              <a:rPr sz="1200" b="0" i="0">
                <a:solidFill>
                  <a:srgbClr val="C9CCD1"/>
                </a:solidFill>
                <a:latin typeface="Public Sans"/>
              </a:rPr>
              <a:t>Your documents</a:t>
            </a:r>
          </a:p>
        </p:txBody>
      </p:sp>
      <p:sp>
        <p:nvSpPr>
          <p:cNvPr id="12" name="Source"/>
          <p:cNvSpPr/>
          <p:nvPr/>
        </p:nvSpPr>
        <p:spPr>
          <a:xfrm>
            <a:off x="813816" y="3657600"/>
            <a:ext cx="1737360" cy="384048"/>
          </a:xfrm>
          <a:prstGeom prst="roundRect">
            <a:avLst>
              <a:gd name="adj" fmla="val 19047"/>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3657600"/>
            <a:ext cx="1554480" cy="384048"/>
          </a:xfrm>
          <a:prstGeom prst="rect">
            <a:avLst/>
          </a:prstGeom>
          <a:noFill/>
        </p:spPr>
        <p:txBody>
          <a:bodyPr wrap="square" lIns="0" tIns="0" rIns="0" bIns="0" anchor="ctr">
            <a:spAutoFit/>
          </a:bodyPr>
          <a:lstStyle/>
          <a:p>
            <a:pPr algn="l"/>
            <a:r>
              <a:rPr sz="1200" b="0" i="0">
                <a:solidFill>
                  <a:srgbClr val="C9CCD1"/>
                </a:solidFill>
                <a:latin typeface="Public Sans"/>
              </a:rPr>
              <a:t>Excel and CSV files</a:t>
            </a:r>
          </a:p>
        </p:txBody>
      </p:sp>
      <p:pic>
        <p:nvPicPr>
          <p:cNvPr id="14" name="Picture 13" descr="image4.png"/>
          <p:cNvPicPr>
            <a:picLocks noChangeAspect="1"/>
          </p:cNvPicPr>
          <p:nvPr/>
        </p:nvPicPr>
        <p:blipFill>
          <a:blip r:embed="rId3"/>
          <a:stretch>
            <a:fillRect/>
          </a:stretch>
        </p:blipFill>
        <p:spPr>
          <a:xfrm>
            <a:off x="2651760" y="3090672"/>
            <a:ext cx="274320" cy="160020"/>
          </a:xfrm>
          <a:prstGeom prst="rect">
            <a:avLst/>
          </a:prstGeom>
        </p:spPr>
      </p:pic>
      <p:sp>
        <p:nvSpPr>
          <p:cNvPr id="15" name="TextBox 14"/>
          <p:cNvSpPr txBox="1"/>
          <p:nvPr/>
        </p:nvSpPr>
        <p:spPr>
          <a:xfrm>
            <a:off x="3044952" y="1938528"/>
            <a:ext cx="4480560" cy="219456"/>
          </a:xfrm>
          <a:prstGeom prst="rect">
            <a:avLst/>
          </a:prstGeom>
          <a:noFill/>
        </p:spPr>
        <p:txBody>
          <a:bodyPr wrap="square" lIns="0" tIns="0" rIns="0" bIns="0" anchor="t">
            <a:spAutoFit/>
          </a:bodyPr>
          <a:lstStyle/>
          <a:p>
            <a:pPr algn="l"/>
            <a:r>
              <a:rPr sz="1100" b="1" i="0">
                <a:solidFill>
                  <a:srgbClr val="E8956F"/>
                </a:solidFill>
                <a:latin typeface="Public Sans"/>
              </a:rPr>
              <a:t>AI AGENTS</a:t>
            </a:r>
          </a:p>
        </p:txBody>
      </p:sp>
      <p:sp>
        <p:nvSpPr>
          <p:cNvPr id="16" name="Ask Compass"/>
          <p:cNvSpPr/>
          <p:nvPr/>
        </p:nvSpPr>
        <p:spPr>
          <a:xfrm>
            <a:off x="3044952" y="2286000"/>
            <a:ext cx="2194560" cy="841247"/>
          </a:xfrm>
          <a:prstGeom prst="roundRect">
            <a:avLst>
              <a:gd name="adj" fmla="val 8695"/>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ard tab"/>
          <p:cNvSpPr/>
          <p:nvPr/>
        </p:nvSpPr>
        <p:spPr>
          <a:xfrm>
            <a:off x="3044952" y="2286000"/>
            <a:ext cx="2194560"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27832" y="2441448"/>
            <a:ext cx="1828800" cy="274320"/>
          </a:xfrm>
          <a:prstGeom prst="rect">
            <a:avLst/>
          </a:prstGeom>
          <a:noFill/>
        </p:spPr>
        <p:txBody>
          <a:bodyPr wrap="square" lIns="0" tIns="0" rIns="0" bIns="0" anchor="t">
            <a:spAutoFit/>
          </a:bodyPr>
          <a:lstStyle/>
          <a:p>
            <a:pPr algn="l"/>
            <a:r>
              <a:rPr sz="1400" b="1" i="0">
                <a:solidFill>
                  <a:srgbClr val="F5F2ED"/>
                </a:solidFill>
                <a:latin typeface="Public Sans"/>
              </a:rPr>
              <a:t>Ask Compass</a:t>
            </a:r>
          </a:p>
        </p:txBody>
      </p:sp>
      <p:sp>
        <p:nvSpPr>
          <p:cNvPr id="19" name="TextBox 18"/>
          <p:cNvSpPr txBox="1"/>
          <p:nvPr/>
        </p:nvSpPr>
        <p:spPr>
          <a:xfrm>
            <a:off x="3227832" y="2715768"/>
            <a:ext cx="1828800" cy="411480"/>
          </a:xfrm>
          <a:prstGeom prst="rect">
            <a:avLst/>
          </a:prstGeom>
          <a:noFill/>
        </p:spPr>
        <p:txBody>
          <a:bodyPr wrap="square" lIns="0" tIns="0" rIns="0" bIns="0" anchor="t">
            <a:spAutoFit/>
          </a:bodyPr>
          <a:lstStyle/>
          <a:p>
            <a:pPr algn="l"/>
            <a:r>
              <a:rPr sz="1200" b="0" i="0">
                <a:solidFill>
                  <a:srgbClr val="C9CCD1"/>
                </a:solidFill>
                <a:latin typeface="Public Sans"/>
              </a:rPr>
              <a:t>Answers from the directory, with citations</a:t>
            </a:r>
          </a:p>
        </p:txBody>
      </p:sp>
      <p:sp>
        <p:nvSpPr>
          <p:cNvPr id="20" name="Explore and Map"/>
          <p:cNvSpPr/>
          <p:nvPr/>
        </p:nvSpPr>
        <p:spPr>
          <a:xfrm>
            <a:off x="5330952" y="2286000"/>
            <a:ext cx="2194560" cy="841247"/>
          </a:xfrm>
          <a:prstGeom prst="roundRect">
            <a:avLst>
              <a:gd name="adj" fmla="val 8695"/>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ard tab"/>
          <p:cNvSpPr/>
          <p:nvPr/>
        </p:nvSpPr>
        <p:spPr>
          <a:xfrm>
            <a:off x="5330952" y="2286000"/>
            <a:ext cx="2194560"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13832" y="2441448"/>
            <a:ext cx="1828800" cy="274320"/>
          </a:xfrm>
          <a:prstGeom prst="rect">
            <a:avLst/>
          </a:prstGeom>
          <a:noFill/>
        </p:spPr>
        <p:txBody>
          <a:bodyPr wrap="square" lIns="0" tIns="0" rIns="0" bIns="0" anchor="t">
            <a:spAutoFit/>
          </a:bodyPr>
          <a:lstStyle/>
          <a:p>
            <a:pPr algn="l"/>
            <a:r>
              <a:rPr sz="1400" b="1" i="0">
                <a:solidFill>
                  <a:srgbClr val="F5F2ED"/>
                </a:solidFill>
                <a:latin typeface="Public Sans"/>
              </a:rPr>
              <a:t>Explore and Map</a:t>
            </a:r>
          </a:p>
        </p:txBody>
      </p:sp>
      <p:sp>
        <p:nvSpPr>
          <p:cNvPr id="23" name="TextBox 22"/>
          <p:cNvSpPr txBox="1"/>
          <p:nvPr/>
        </p:nvSpPr>
        <p:spPr>
          <a:xfrm>
            <a:off x="5513832" y="2715768"/>
            <a:ext cx="1828800" cy="411480"/>
          </a:xfrm>
          <a:prstGeom prst="rect">
            <a:avLst/>
          </a:prstGeom>
          <a:noFill/>
        </p:spPr>
        <p:txBody>
          <a:bodyPr wrap="square" lIns="0" tIns="0" rIns="0" bIns="0" anchor="t">
            <a:spAutoFit/>
          </a:bodyPr>
          <a:lstStyle/>
          <a:p>
            <a:pPr algn="l"/>
            <a:r>
              <a:rPr sz="1200" b="0" i="0">
                <a:solidFill>
                  <a:srgbClr val="C9CCD1"/>
                </a:solidFill>
                <a:latin typeface="Public Sans"/>
              </a:rPr>
              <a:t>Researches the web and builds a map</a:t>
            </a:r>
          </a:p>
        </p:txBody>
      </p:sp>
      <p:sp>
        <p:nvSpPr>
          <p:cNvPr id="24" name="Monitor"/>
          <p:cNvSpPr/>
          <p:nvPr/>
        </p:nvSpPr>
        <p:spPr>
          <a:xfrm>
            <a:off x="3044952" y="3236976"/>
            <a:ext cx="2194560" cy="841247"/>
          </a:xfrm>
          <a:prstGeom prst="roundRect">
            <a:avLst>
              <a:gd name="adj" fmla="val 8695"/>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ard tab"/>
          <p:cNvSpPr/>
          <p:nvPr/>
        </p:nvSpPr>
        <p:spPr>
          <a:xfrm>
            <a:off x="3044952" y="3236976"/>
            <a:ext cx="2194560"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3392424"/>
            <a:ext cx="1828800" cy="274320"/>
          </a:xfrm>
          <a:prstGeom prst="rect">
            <a:avLst/>
          </a:prstGeom>
          <a:noFill/>
        </p:spPr>
        <p:txBody>
          <a:bodyPr wrap="square" lIns="0" tIns="0" rIns="0" bIns="0" anchor="t">
            <a:spAutoFit/>
          </a:bodyPr>
          <a:lstStyle/>
          <a:p>
            <a:pPr algn="l"/>
            <a:r>
              <a:rPr sz="1400" b="1" i="0">
                <a:solidFill>
                  <a:srgbClr val="F5F2ED"/>
                </a:solidFill>
                <a:latin typeface="Public Sans"/>
              </a:rPr>
              <a:t>Monitor</a:t>
            </a:r>
          </a:p>
        </p:txBody>
      </p:sp>
      <p:sp>
        <p:nvSpPr>
          <p:cNvPr id="27" name="TextBox 26"/>
          <p:cNvSpPr txBox="1"/>
          <p:nvPr/>
        </p:nvSpPr>
        <p:spPr>
          <a:xfrm>
            <a:off x="3227832" y="3666744"/>
            <a:ext cx="1828800" cy="411480"/>
          </a:xfrm>
          <a:prstGeom prst="rect">
            <a:avLst/>
          </a:prstGeom>
          <a:noFill/>
        </p:spPr>
        <p:txBody>
          <a:bodyPr wrap="square" lIns="0" tIns="0" rIns="0" bIns="0" anchor="t">
            <a:spAutoFit/>
          </a:bodyPr>
          <a:lstStyle/>
          <a:p>
            <a:pPr algn="l"/>
            <a:r>
              <a:rPr sz="1200" b="0" i="0">
                <a:solidFill>
                  <a:srgbClr val="C9CCD1"/>
                </a:solidFill>
                <a:latin typeface="Public Sans"/>
              </a:rPr>
              <a:t>Scheduled searches on a topic</a:t>
            </a:r>
          </a:p>
        </p:txBody>
      </p:sp>
      <p:sp>
        <p:nvSpPr>
          <p:cNvPr id="28" name="Update"/>
          <p:cNvSpPr/>
          <p:nvPr/>
        </p:nvSpPr>
        <p:spPr>
          <a:xfrm>
            <a:off x="5330952" y="3236976"/>
            <a:ext cx="2194560" cy="841247"/>
          </a:xfrm>
          <a:prstGeom prst="roundRect">
            <a:avLst>
              <a:gd name="adj" fmla="val 8695"/>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ard tab"/>
          <p:cNvSpPr/>
          <p:nvPr/>
        </p:nvSpPr>
        <p:spPr>
          <a:xfrm>
            <a:off x="5330952" y="3236976"/>
            <a:ext cx="2194560"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13832" y="3392424"/>
            <a:ext cx="1828800" cy="274320"/>
          </a:xfrm>
          <a:prstGeom prst="rect">
            <a:avLst/>
          </a:prstGeom>
          <a:noFill/>
        </p:spPr>
        <p:txBody>
          <a:bodyPr wrap="square" lIns="0" tIns="0" rIns="0" bIns="0" anchor="t">
            <a:spAutoFit/>
          </a:bodyPr>
          <a:lstStyle/>
          <a:p>
            <a:pPr algn="l"/>
            <a:r>
              <a:rPr sz="1400" b="1" i="0">
                <a:solidFill>
                  <a:srgbClr val="F5F2ED"/>
                </a:solidFill>
                <a:latin typeface="Public Sans"/>
              </a:rPr>
              <a:t>Update</a:t>
            </a:r>
          </a:p>
        </p:txBody>
      </p:sp>
      <p:sp>
        <p:nvSpPr>
          <p:cNvPr id="31" name="TextBox 30"/>
          <p:cNvSpPr txBox="1"/>
          <p:nvPr/>
        </p:nvSpPr>
        <p:spPr>
          <a:xfrm>
            <a:off x="5513832" y="3666744"/>
            <a:ext cx="1828800" cy="411480"/>
          </a:xfrm>
          <a:prstGeom prst="rect">
            <a:avLst/>
          </a:prstGeom>
          <a:noFill/>
        </p:spPr>
        <p:txBody>
          <a:bodyPr wrap="square" lIns="0" tIns="0" rIns="0" bIns="0" anchor="t">
            <a:spAutoFit/>
          </a:bodyPr>
          <a:lstStyle/>
          <a:p>
            <a:pPr algn="l"/>
            <a:r>
              <a:rPr sz="1200" b="0" i="0">
                <a:solidFill>
                  <a:srgbClr val="C9CCD1"/>
                </a:solidFill>
                <a:latin typeface="Public Sans"/>
              </a:rPr>
              <a:t>Re-reads an organization’s own pages</a:t>
            </a:r>
          </a:p>
        </p:txBody>
      </p:sp>
      <p:pic>
        <p:nvPicPr>
          <p:cNvPr id="32" name="Picture 31" descr="image4.png"/>
          <p:cNvPicPr>
            <a:picLocks noChangeAspect="1"/>
          </p:cNvPicPr>
          <p:nvPr/>
        </p:nvPicPr>
        <p:blipFill>
          <a:blip r:embed="rId3"/>
          <a:stretch>
            <a:fillRect/>
          </a:stretch>
        </p:blipFill>
        <p:spPr>
          <a:xfrm>
            <a:off x="7616952" y="3090672"/>
            <a:ext cx="274320" cy="160020"/>
          </a:xfrm>
          <a:prstGeom prst="rect">
            <a:avLst/>
          </a:prstGeom>
        </p:spPr>
      </p:pic>
      <p:sp>
        <p:nvSpPr>
          <p:cNvPr id="33" name="TextBox 32"/>
          <p:cNvSpPr txBox="1"/>
          <p:nvPr/>
        </p:nvSpPr>
        <p:spPr>
          <a:xfrm>
            <a:off x="8010144" y="1938528"/>
            <a:ext cx="1645920" cy="219456"/>
          </a:xfrm>
          <a:prstGeom prst="rect">
            <a:avLst/>
          </a:prstGeom>
          <a:noFill/>
        </p:spPr>
        <p:txBody>
          <a:bodyPr wrap="square" lIns="0" tIns="0" rIns="0" bIns="0" anchor="t">
            <a:spAutoFit/>
          </a:bodyPr>
          <a:lstStyle/>
          <a:p>
            <a:pPr algn="l"/>
            <a:r>
              <a:rPr sz="1100" b="1" i="0">
                <a:solidFill>
                  <a:srgbClr val="E8956F"/>
                </a:solidFill>
                <a:latin typeface="Public Sans"/>
              </a:rPr>
              <a:t>A PERSON DECIDES</a:t>
            </a:r>
          </a:p>
        </p:txBody>
      </p:sp>
      <p:sp>
        <p:nvSpPr>
          <p:cNvPr id="34" name="Person decides"/>
          <p:cNvSpPr/>
          <p:nvPr/>
        </p:nvSpPr>
        <p:spPr>
          <a:xfrm>
            <a:off x="8010144" y="2286000"/>
            <a:ext cx="1645920" cy="1792224"/>
          </a:xfrm>
          <a:prstGeom prst="roundRect">
            <a:avLst>
              <a:gd name="adj" fmla="val 4444"/>
            </a:avLst>
          </a:prstGeom>
          <a:solidFill>
            <a:srgbClr val="C24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74736" y="2487168"/>
            <a:ext cx="1344168" cy="1463040"/>
          </a:xfrm>
          <a:prstGeom prst="rect">
            <a:avLst/>
          </a:prstGeom>
          <a:noFill/>
        </p:spPr>
        <p:txBody>
          <a:bodyPr wrap="square" lIns="0" tIns="0" rIns="0" bIns="0" anchor="t">
            <a:spAutoFit/>
          </a:bodyPr>
          <a:lstStyle/>
          <a:p>
            <a:pPr algn="l">
              <a:spcAft>
                <a:spcPts val="800"/>
              </a:spcAft>
            </a:pPr>
            <a:r>
              <a:rPr sz="1400" b="1" i="0">
                <a:solidFill>
                  <a:srgbClr val="FFFFFF"/>
                </a:solidFill>
                <a:latin typeface="Public Sans"/>
              </a:rPr>
              <a:t>Verify</a:t>
            </a:r>
          </a:p>
          <a:p>
            <a:pPr algn="l">
              <a:spcAft>
                <a:spcPts val="800"/>
              </a:spcAft>
            </a:pPr>
            <a:r>
              <a:rPr sz="1200" b="0" i="0">
                <a:solidFill>
                  <a:srgbClr val="FFFFFF"/>
                </a:solidFill>
                <a:latin typeface="Public Sans"/>
              </a:rPr>
              <a:t>on a map, or approve in Review Results</a:t>
            </a:r>
          </a:p>
          <a:p>
            <a:pPr algn="l">
              <a:spcAft>
                <a:spcPts val="800"/>
              </a:spcAft>
            </a:pPr>
            <a:r>
              <a:rPr sz="1200" b="1" i="0">
                <a:solidFill>
                  <a:srgbClr val="FFFFFF"/>
                </a:solidFill>
                <a:latin typeface="Public Sans"/>
              </a:rPr>
              <a:t>Nothing enters on its own</a:t>
            </a:r>
          </a:p>
        </p:txBody>
      </p:sp>
      <p:pic>
        <p:nvPicPr>
          <p:cNvPr id="36" name="Picture 35" descr="image4.png"/>
          <p:cNvPicPr>
            <a:picLocks noChangeAspect="1"/>
          </p:cNvPicPr>
          <p:nvPr/>
        </p:nvPicPr>
        <p:blipFill>
          <a:blip r:embed="rId3"/>
          <a:stretch>
            <a:fillRect/>
          </a:stretch>
        </p:blipFill>
        <p:spPr>
          <a:xfrm>
            <a:off x="9747504" y="3090672"/>
            <a:ext cx="274320" cy="160020"/>
          </a:xfrm>
          <a:prstGeom prst="rect">
            <a:avLst/>
          </a:prstGeom>
        </p:spPr>
      </p:pic>
      <p:sp>
        <p:nvSpPr>
          <p:cNvPr id="37" name="TextBox 36"/>
          <p:cNvSpPr txBox="1"/>
          <p:nvPr/>
        </p:nvSpPr>
        <p:spPr>
          <a:xfrm>
            <a:off x="10140696" y="1938528"/>
            <a:ext cx="1280160" cy="219456"/>
          </a:xfrm>
          <a:prstGeom prst="rect">
            <a:avLst/>
          </a:prstGeom>
          <a:noFill/>
        </p:spPr>
        <p:txBody>
          <a:bodyPr wrap="square" lIns="0" tIns="0" rIns="0" bIns="0" anchor="t">
            <a:spAutoFit/>
          </a:bodyPr>
          <a:lstStyle/>
          <a:p>
            <a:pPr algn="l"/>
            <a:r>
              <a:rPr sz="1100" b="1" i="0">
                <a:solidFill>
                  <a:srgbClr val="E8956F"/>
                </a:solidFill>
                <a:latin typeface="Public Sans"/>
              </a:rPr>
              <a:t>KEPT</a:t>
            </a:r>
          </a:p>
        </p:txBody>
      </p:sp>
      <p:sp>
        <p:nvSpPr>
          <p:cNvPr id="38" name="Directory"/>
          <p:cNvSpPr/>
          <p:nvPr/>
        </p:nvSpPr>
        <p:spPr>
          <a:xfrm>
            <a:off x="10140696" y="2286000"/>
            <a:ext cx="1234440" cy="1792224"/>
          </a:xfrm>
          <a:prstGeom prst="roundRect">
            <a:avLst>
              <a:gd name="adj" fmla="val 5925"/>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277856" y="2514600"/>
            <a:ext cx="1005840" cy="1371600"/>
          </a:xfrm>
          <a:prstGeom prst="rect">
            <a:avLst/>
          </a:prstGeom>
          <a:noFill/>
        </p:spPr>
        <p:txBody>
          <a:bodyPr wrap="square" lIns="0" tIns="0" rIns="0" bIns="0" anchor="t">
            <a:spAutoFit/>
          </a:bodyPr>
          <a:lstStyle/>
          <a:p>
            <a:pPr algn="l">
              <a:spcAft>
                <a:spcPts val="600"/>
              </a:spcAft>
            </a:pPr>
            <a:r>
              <a:rPr sz="1400" b="1" i="0">
                <a:solidFill>
                  <a:srgbClr val="1F2329"/>
                </a:solidFill>
                <a:latin typeface="Public Sans"/>
              </a:rPr>
              <a:t>Ecosystem Directory</a:t>
            </a:r>
          </a:p>
          <a:p>
            <a:pPr algn="l">
              <a:spcAft>
                <a:spcPts val="600"/>
              </a:spcAft>
            </a:pPr>
            <a:r>
              <a:rPr sz="1200" b="0" i="0">
                <a:solidFill>
                  <a:srgbClr val="4A4F57"/>
                </a:solidFill>
                <a:latin typeface="Public Sans"/>
              </a:rPr>
              <a:t>Read by Ask Compass</a:t>
            </a:r>
          </a:p>
        </p:txBody>
      </p:sp>
      <p:sp>
        <p:nvSpPr>
          <p:cNvPr id="40" name="TextBox 39"/>
          <p:cNvSpPr txBox="1"/>
          <p:nvPr/>
        </p:nvSpPr>
        <p:spPr>
          <a:xfrm>
            <a:off x="813816" y="4370832"/>
            <a:ext cx="2377440" cy="640080"/>
          </a:xfrm>
          <a:prstGeom prst="rect">
            <a:avLst/>
          </a:prstGeom>
          <a:noFill/>
        </p:spPr>
        <p:txBody>
          <a:bodyPr wrap="square" lIns="0" tIns="0" rIns="0" bIns="0" anchor="t">
            <a:spAutoFit/>
          </a:bodyPr>
          <a:lstStyle/>
          <a:p>
            <a:pPr algn="l"/>
            <a:r>
              <a:rPr sz="4000" b="1" i="0">
                <a:solidFill>
                  <a:srgbClr val="F5F2ED"/>
                </a:solidFill>
                <a:latin typeface="Libre Baskerville"/>
              </a:rPr>
              <a:t>730</a:t>
            </a:r>
          </a:p>
        </p:txBody>
      </p:sp>
      <p:sp>
        <p:nvSpPr>
          <p:cNvPr id="41" name="TextBox 40"/>
          <p:cNvSpPr txBox="1"/>
          <p:nvPr/>
        </p:nvSpPr>
        <p:spPr>
          <a:xfrm>
            <a:off x="813816" y="4992624"/>
            <a:ext cx="2377440" cy="274320"/>
          </a:xfrm>
          <a:prstGeom prst="rect">
            <a:avLst/>
          </a:prstGeom>
          <a:noFill/>
        </p:spPr>
        <p:txBody>
          <a:bodyPr wrap="square" lIns="0" tIns="0" rIns="0" bIns="0" anchor="t">
            <a:spAutoFit/>
          </a:bodyPr>
          <a:lstStyle/>
          <a:p>
            <a:pPr algn="l"/>
            <a:r>
              <a:rPr sz="1400" b="0" i="0">
                <a:solidFill>
                  <a:srgbClr val="C9CCD1"/>
                </a:solidFill>
                <a:latin typeface="Public Sans"/>
              </a:rPr>
              <a:t>organizations</a:t>
            </a:r>
          </a:p>
        </p:txBody>
      </p:sp>
      <p:sp>
        <p:nvSpPr>
          <p:cNvPr id="42" name="TextBox 41"/>
          <p:cNvSpPr txBox="1"/>
          <p:nvPr/>
        </p:nvSpPr>
        <p:spPr>
          <a:xfrm>
            <a:off x="3511296" y="4370832"/>
            <a:ext cx="2377440" cy="640080"/>
          </a:xfrm>
          <a:prstGeom prst="rect">
            <a:avLst/>
          </a:prstGeom>
          <a:noFill/>
        </p:spPr>
        <p:txBody>
          <a:bodyPr wrap="square" lIns="0" tIns="0" rIns="0" bIns="0" anchor="t">
            <a:spAutoFit/>
          </a:bodyPr>
          <a:lstStyle/>
          <a:p>
            <a:pPr algn="l"/>
            <a:r>
              <a:rPr sz="4000" b="1" i="0">
                <a:solidFill>
                  <a:srgbClr val="F5F2ED"/>
                </a:solidFill>
                <a:latin typeface="Libre Baskerville"/>
              </a:rPr>
              <a:t>48</a:t>
            </a:r>
          </a:p>
        </p:txBody>
      </p:sp>
      <p:sp>
        <p:nvSpPr>
          <p:cNvPr id="43" name="TextBox 42"/>
          <p:cNvSpPr txBox="1"/>
          <p:nvPr/>
        </p:nvSpPr>
        <p:spPr>
          <a:xfrm>
            <a:off x="3511296" y="4992624"/>
            <a:ext cx="2377440" cy="274320"/>
          </a:xfrm>
          <a:prstGeom prst="rect">
            <a:avLst/>
          </a:prstGeom>
          <a:noFill/>
        </p:spPr>
        <p:txBody>
          <a:bodyPr wrap="square" lIns="0" tIns="0" rIns="0" bIns="0" anchor="t">
            <a:spAutoFit/>
          </a:bodyPr>
          <a:lstStyle/>
          <a:p>
            <a:pPr algn="l"/>
            <a:r>
              <a:rPr sz="1400" b="0" i="0">
                <a:solidFill>
                  <a:srgbClr val="C9CCD1"/>
                </a:solidFill>
                <a:latin typeface="Public Sans"/>
              </a:rPr>
              <a:t>hubs</a:t>
            </a:r>
          </a:p>
        </p:txBody>
      </p:sp>
      <p:sp>
        <p:nvSpPr>
          <p:cNvPr id="44" name="TextBox 43"/>
          <p:cNvSpPr txBox="1"/>
          <p:nvPr/>
        </p:nvSpPr>
        <p:spPr>
          <a:xfrm>
            <a:off x="6208776" y="4370832"/>
            <a:ext cx="2377440" cy="640080"/>
          </a:xfrm>
          <a:prstGeom prst="rect">
            <a:avLst/>
          </a:prstGeom>
          <a:noFill/>
        </p:spPr>
        <p:txBody>
          <a:bodyPr wrap="square" lIns="0" tIns="0" rIns="0" bIns="0" anchor="t">
            <a:spAutoFit/>
          </a:bodyPr>
          <a:lstStyle/>
          <a:p>
            <a:pPr algn="l"/>
            <a:r>
              <a:rPr sz="4000" b="1" i="0">
                <a:solidFill>
                  <a:srgbClr val="F5F2ED"/>
                </a:solidFill>
                <a:latin typeface="Libre Baskerville"/>
              </a:rPr>
              <a:t>357</a:t>
            </a:r>
          </a:p>
        </p:txBody>
      </p:sp>
      <p:sp>
        <p:nvSpPr>
          <p:cNvPr id="45" name="TextBox 44"/>
          <p:cNvSpPr txBox="1"/>
          <p:nvPr/>
        </p:nvSpPr>
        <p:spPr>
          <a:xfrm>
            <a:off x="6208776" y="4992624"/>
            <a:ext cx="2377440" cy="274320"/>
          </a:xfrm>
          <a:prstGeom prst="rect">
            <a:avLst/>
          </a:prstGeom>
          <a:noFill/>
        </p:spPr>
        <p:txBody>
          <a:bodyPr wrap="square" lIns="0" tIns="0" rIns="0" bIns="0" anchor="t">
            <a:spAutoFit/>
          </a:bodyPr>
          <a:lstStyle/>
          <a:p>
            <a:pPr algn="l"/>
            <a:r>
              <a:rPr sz="1400" b="0" i="0">
                <a:solidFill>
                  <a:srgbClr val="C9CCD1"/>
                </a:solidFill>
                <a:latin typeface="Public Sans"/>
              </a:rPr>
              <a:t>events</a:t>
            </a:r>
          </a:p>
        </p:txBody>
      </p:sp>
      <p:sp>
        <p:nvSpPr>
          <p:cNvPr id="46" name="TextBox 45"/>
          <p:cNvSpPr txBox="1"/>
          <p:nvPr/>
        </p:nvSpPr>
        <p:spPr>
          <a:xfrm>
            <a:off x="8906256" y="4370832"/>
            <a:ext cx="2377440" cy="640080"/>
          </a:xfrm>
          <a:prstGeom prst="rect">
            <a:avLst/>
          </a:prstGeom>
          <a:noFill/>
        </p:spPr>
        <p:txBody>
          <a:bodyPr wrap="square" lIns="0" tIns="0" rIns="0" bIns="0" anchor="t">
            <a:spAutoFit/>
          </a:bodyPr>
          <a:lstStyle/>
          <a:p>
            <a:pPr algn="l"/>
            <a:r>
              <a:rPr sz="4000" b="1" i="0">
                <a:solidFill>
                  <a:srgbClr val="F5F2ED"/>
                </a:solidFill>
                <a:latin typeface="Libre Baskerville"/>
              </a:rPr>
              <a:t>8</a:t>
            </a:r>
          </a:p>
        </p:txBody>
      </p:sp>
      <p:sp>
        <p:nvSpPr>
          <p:cNvPr id="47" name="TextBox 46"/>
          <p:cNvSpPr txBox="1"/>
          <p:nvPr/>
        </p:nvSpPr>
        <p:spPr>
          <a:xfrm>
            <a:off x="8906256" y="4992624"/>
            <a:ext cx="2377440" cy="274320"/>
          </a:xfrm>
          <a:prstGeom prst="rect">
            <a:avLst/>
          </a:prstGeom>
          <a:noFill/>
        </p:spPr>
        <p:txBody>
          <a:bodyPr wrap="square" lIns="0" tIns="0" rIns="0" bIns="0" anchor="t">
            <a:spAutoFit/>
          </a:bodyPr>
          <a:lstStyle/>
          <a:p>
            <a:pPr algn="l"/>
            <a:r>
              <a:rPr sz="1400" b="0" i="0">
                <a:solidFill>
                  <a:srgbClr val="C9CCD1"/>
                </a:solidFill>
                <a:latin typeface="Public Sans"/>
              </a:rPr>
              <a:t>sectors</a:t>
            </a:r>
          </a:p>
        </p:txBody>
      </p:sp>
      <p:sp>
        <p:nvSpPr>
          <p:cNvPr id="48" name="TextBox 47"/>
          <p:cNvSpPr txBox="1"/>
          <p:nvPr/>
        </p:nvSpPr>
        <p:spPr>
          <a:xfrm>
            <a:off x="813816" y="5504688"/>
            <a:ext cx="10515600" cy="274320"/>
          </a:xfrm>
          <a:prstGeom prst="rect">
            <a:avLst/>
          </a:prstGeom>
          <a:noFill/>
        </p:spPr>
        <p:txBody>
          <a:bodyPr wrap="square" lIns="0" tIns="0" rIns="0" bIns="0" anchor="t">
            <a:spAutoFit/>
          </a:bodyPr>
          <a:lstStyle/>
          <a:p>
            <a:pPr algn="l"/>
            <a:r>
              <a:rPr sz="1500" b="1" i="0">
                <a:solidFill>
                  <a:srgbClr val="E8956F"/>
                </a:solidFill>
                <a:latin typeface="Public Sans"/>
              </a:rPr>
              <a:t>AI agents search and propose. </a:t>
            </a:r>
            <a:r>
              <a:rPr sz="1500" b="0" i="0">
                <a:solidFill>
                  <a:srgbClr val="C9CCD1"/>
                </a:solidFill>
                <a:latin typeface="Public Sans"/>
              </a:rPr>
              <a:t>People decide what enters the directory.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152144"/>
            <a:ext cx="10881360" cy="548640"/>
          </a:xfrm>
        </p:spPr>
        <p:txBody>
          <a:bodyPr/>
          <a:lstStyle/>
          <a:p>
            <a:r>
              <a:rPr sz="3000" b="1">
                <a:solidFill>
                  <a:srgbClr val="1F2329"/>
                </a:solidFill>
                <a:latin typeface="Libre Baskerville"/>
              </a:rPr>
              <a:t>What do we already know?</a:t>
            </a:r>
          </a:p>
        </p:txBody>
      </p:sp>
      <p:sp>
        <p:nvSpPr>
          <p:cNvPr id="3" name="Eyebrow"/>
          <p:cNvSpPr txBox="1"/>
          <p:nvPr/>
        </p:nvSpPr>
        <p:spPr>
          <a:xfrm>
            <a:off x="813816" y="813816"/>
            <a:ext cx="10881360" cy="237744"/>
          </a:xfrm>
          <a:prstGeom prst="rect">
            <a:avLst/>
          </a:prstGeom>
          <a:noFill/>
        </p:spPr>
        <p:txBody>
          <a:bodyPr wrap="square" lIns="0" tIns="0" rIns="0" bIns="0" anchor="t">
            <a:spAutoFit/>
          </a:bodyPr>
          <a:lstStyle/>
          <a:p>
            <a:pPr algn="l"/>
            <a:r>
              <a:rPr sz="1200" b="1" i="0">
                <a:solidFill>
                  <a:srgbClr val="C2481C"/>
                </a:solidFill>
                <a:latin typeface="Public Sans"/>
              </a:rPr>
              <a:t>ASK COMPASS</a:t>
            </a:r>
          </a:p>
        </p:txBody>
      </p:sp>
      <p:sp>
        <p:nvSpPr>
          <p:cNvPr id="4" name="Footer"/>
          <p:cNvSpPr txBox="1"/>
          <p:nvPr/>
        </p:nvSpPr>
        <p:spPr>
          <a:xfrm>
            <a:off x="813816" y="6236208"/>
            <a:ext cx="10515600" cy="237744"/>
          </a:xfrm>
          <a:prstGeom prst="rect">
            <a:avLst/>
          </a:prstGeom>
          <a:noFill/>
        </p:spPr>
        <p:txBody>
          <a:bodyPr wrap="square" lIns="0" tIns="0" rIns="0" bIns="0" anchor="t">
            <a:spAutoFit/>
          </a:bodyPr>
          <a:lstStyle/>
          <a:p>
            <a:pPr algn="l"/>
            <a:r>
              <a:rPr sz="1200" b="0" i="0">
                <a:solidFill>
                  <a:srgbClr val="6B7079"/>
                </a:solidFill>
                <a:latin typeface="Public Sans"/>
              </a:rPr>
              <a:t>COMPASS · Ecosystem Intelligence · 3</a:t>
            </a:r>
          </a:p>
        </p:txBody>
      </p:sp>
      <p:sp>
        <p:nvSpPr>
          <p:cNvPr id="5" name="TextBox 4"/>
          <p:cNvSpPr txBox="1"/>
          <p:nvPr/>
        </p:nvSpPr>
        <p:spPr>
          <a:xfrm>
            <a:off x="813816" y="2011680"/>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IT DOES</a:t>
            </a:r>
          </a:p>
        </p:txBody>
      </p:sp>
      <p:sp>
        <p:nvSpPr>
          <p:cNvPr id="6" name="TextBox 5"/>
          <p:cNvSpPr txBox="1"/>
          <p:nvPr/>
        </p:nvSpPr>
        <p:spPr>
          <a:xfrm>
            <a:off x="813816" y="2267712"/>
            <a:ext cx="5852160" cy="566928"/>
          </a:xfrm>
          <a:prstGeom prst="rect">
            <a:avLst/>
          </a:prstGeom>
          <a:noFill/>
        </p:spPr>
        <p:txBody>
          <a:bodyPr wrap="square" lIns="0" tIns="0" rIns="0" bIns="0" anchor="t">
            <a:spAutoFit/>
          </a:bodyPr>
          <a:lstStyle/>
          <a:p>
            <a:pPr algn="l"/>
            <a:r>
              <a:rPr sz="1500" b="0" i="0">
                <a:solidFill>
                  <a:srgbClr val="4A4F57"/>
                </a:solidFill>
                <a:latin typeface="Public Sans"/>
              </a:rPr>
              <a:t>Answers questions in plain language about what is already in the directory.</a:t>
            </a:r>
          </a:p>
        </p:txBody>
      </p:sp>
      <p:sp>
        <p:nvSpPr>
          <p:cNvPr id="7" name="TextBox 6"/>
          <p:cNvSpPr txBox="1"/>
          <p:nvPr/>
        </p:nvSpPr>
        <p:spPr>
          <a:xfrm>
            <a:off x="813816" y="2999232"/>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IT’S FOR</a:t>
            </a:r>
          </a:p>
        </p:txBody>
      </p:sp>
      <p:sp>
        <p:nvSpPr>
          <p:cNvPr id="8" name="TextBox 7"/>
          <p:cNvSpPr txBox="1"/>
          <p:nvPr/>
        </p:nvSpPr>
        <p:spPr>
          <a:xfrm>
            <a:off x="813816" y="3255264"/>
            <a:ext cx="5852160" cy="566928"/>
          </a:xfrm>
          <a:prstGeom prst="rect">
            <a:avLst/>
          </a:prstGeom>
          <a:noFill/>
        </p:spPr>
        <p:txBody>
          <a:bodyPr wrap="square" lIns="0" tIns="0" rIns="0" bIns="0" anchor="t">
            <a:spAutoFit/>
          </a:bodyPr>
          <a:lstStyle/>
          <a:p>
            <a:pPr algn="l"/>
            <a:r>
              <a:rPr sz="1500" b="0" i="0">
                <a:solidFill>
                  <a:srgbClr val="4A4F57"/>
                </a:solidFill>
                <a:latin typeface="Public Sans"/>
              </a:rPr>
              <a:t>Checking what we have before starting new research.</a:t>
            </a:r>
          </a:p>
        </p:txBody>
      </p:sp>
      <p:sp>
        <p:nvSpPr>
          <p:cNvPr id="9" name="TextBox 8"/>
          <p:cNvSpPr txBox="1"/>
          <p:nvPr/>
        </p:nvSpPr>
        <p:spPr>
          <a:xfrm>
            <a:off x="813816" y="3986784"/>
            <a:ext cx="5852160" cy="219456"/>
          </a:xfrm>
          <a:prstGeom prst="rect">
            <a:avLst/>
          </a:prstGeom>
          <a:noFill/>
        </p:spPr>
        <p:txBody>
          <a:bodyPr wrap="square" lIns="0" tIns="0" rIns="0" bIns="0" anchor="t">
            <a:spAutoFit/>
          </a:bodyPr>
          <a:lstStyle/>
          <a:p>
            <a:pPr algn="l"/>
            <a:r>
              <a:rPr sz="1100" b="1" i="0">
                <a:solidFill>
                  <a:srgbClr val="C2481C"/>
                </a:solidFill>
                <a:latin typeface="Public Sans"/>
              </a:rPr>
              <a:t>SOURCE OF INFORMATION</a:t>
            </a:r>
          </a:p>
        </p:txBody>
      </p:sp>
      <p:sp>
        <p:nvSpPr>
          <p:cNvPr id="10" name="TextBox 9"/>
          <p:cNvSpPr txBox="1"/>
          <p:nvPr/>
        </p:nvSpPr>
        <p:spPr>
          <a:xfrm>
            <a:off x="813816" y="4242816"/>
            <a:ext cx="5852160" cy="566928"/>
          </a:xfrm>
          <a:prstGeom prst="rect">
            <a:avLst/>
          </a:prstGeom>
          <a:noFill/>
        </p:spPr>
        <p:txBody>
          <a:bodyPr wrap="square" lIns="0" tIns="0" rIns="0" bIns="0" anchor="t">
            <a:spAutoFit/>
          </a:bodyPr>
          <a:lstStyle/>
          <a:p>
            <a:pPr algn="l"/>
            <a:r>
              <a:rPr sz="1500" b="0" i="0">
                <a:solidFill>
                  <a:srgbClr val="4A4F57"/>
                </a:solidFill>
                <a:latin typeface="Public Sans"/>
              </a:rPr>
              <a:t>The directory (verified and parked records), plus any document you attach.</a:t>
            </a:r>
          </a:p>
        </p:txBody>
      </p:sp>
      <p:sp>
        <p:nvSpPr>
          <p:cNvPr id="11" name="TextBox 10"/>
          <p:cNvSpPr txBox="1"/>
          <p:nvPr/>
        </p:nvSpPr>
        <p:spPr>
          <a:xfrm>
            <a:off x="813816" y="4974336"/>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YOU GET</a:t>
            </a:r>
          </a:p>
        </p:txBody>
      </p:sp>
      <p:sp>
        <p:nvSpPr>
          <p:cNvPr id="12" name="TextBox 11"/>
          <p:cNvSpPr txBox="1"/>
          <p:nvPr/>
        </p:nvSpPr>
        <p:spPr>
          <a:xfrm>
            <a:off x="813816" y="5230368"/>
            <a:ext cx="5852160" cy="566928"/>
          </a:xfrm>
          <a:prstGeom prst="rect">
            <a:avLst/>
          </a:prstGeom>
          <a:noFill/>
        </p:spPr>
        <p:txBody>
          <a:bodyPr wrap="square" lIns="0" tIns="0" rIns="0" bIns="0" anchor="t">
            <a:spAutoFit/>
          </a:bodyPr>
          <a:lstStyle/>
          <a:p>
            <a:pPr algn="l"/>
            <a:r>
              <a:rPr sz="1500" b="0" i="0">
                <a:solidFill>
                  <a:srgbClr val="4A4F57"/>
                </a:solidFill>
                <a:latin typeface="Public Sans"/>
              </a:rPr>
              <a:t>A short answer with a citation for every record.</a:t>
            </a:r>
          </a:p>
        </p:txBody>
      </p:sp>
      <p:sp>
        <p:nvSpPr>
          <p:cNvPr id="13" name="Example card"/>
          <p:cNvSpPr/>
          <p:nvPr/>
        </p:nvSpPr>
        <p:spPr>
          <a:xfrm>
            <a:off x="7178040" y="2011680"/>
            <a:ext cx="4206240" cy="3794760"/>
          </a:xfrm>
          <a:prstGeom prst="roundRect">
            <a:avLst>
              <a:gd name="adj" fmla="val 1927"/>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70648" y="2286000"/>
            <a:ext cx="3621023" cy="219456"/>
          </a:xfrm>
          <a:prstGeom prst="rect">
            <a:avLst/>
          </a:prstGeom>
          <a:noFill/>
        </p:spPr>
        <p:txBody>
          <a:bodyPr wrap="square" lIns="0" tIns="0" rIns="0" bIns="0" anchor="t">
            <a:spAutoFit/>
          </a:bodyPr>
          <a:lstStyle/>
          <a:p>
            <a:pPr algn="l"/>
            <a:r>
              <a:rPr sz="1100" b="1" i="0">
                <a:solidFill>
                  <a:srgbClr val="6B7079"/>
                </a:solidFill>
                <a:latin typeface="Public Sans"/>
              </a:rPr>
              <a:t>EXAMPLE</a:t>
            </a:r>
          </a:p>
        </p:txBody>
      </p:sp>
      <p:sp>
        <p:nvSpPr>
          <p:cNvPr id="15" name="Message"/>
          <p:cNvSpPr/>
          <p:nvPr/>
        </p:nvSpPr>
        <p:spPr>
          <a:xfrm>
            <a:off x="7470648" y="2615184"/>
            <a:ext cx="3621023" cy="868680"/>
          </a:xfrm>
          <a:prstGeom prst="roundRect">
            <a:avLst>
              <a:gd name="adj" fmla="val 8421"/>
            </a:avLst>
          </a:prstGeom>
          <a:solidFill>
            <a:srgbClr val="C24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35240" y="2615184"/>
            <a:ext cx="3291839" cy="868680"/>
          </a:xfrm>
          <a:prstGeom prst="rect">
            <a:avLst/>
          </a:prstGeom>
          <a:noFill/>
        </p:spPr>
        <p:txBody>
          <a:bodyPr wrap="square" lIns="0" tIns="0" rIns="0" bIns="0" anchor="ctr">
            <a:spAutoFit/>
          </a:bodyPr>
          <a:lstStyle/>
          <a:p>
            <a:pPr algn="l"/>
            <a:r>
              <a:rPr sz="1300" b="1" i="0">
                <a:solidFill>
                  <a:srgbClr val="FFFFFF"/>
                </a:solidFill>
                <a:latin typeface="Public Sans"/>
              </a:rPr>
              <a:t>“Which organizations in our directory work on phosphate or phosphogypsum?”</a:t>
            </a:r>
          </a:p>
        </p:txBody>
      </p:sp>
      <p:sp>
        <p:nvSpPr>
          <p:cNvPr id="17" name="TextBox 16"/>
          <p:cNvSpPr txBox="1"/>
          <p:nvPr/>
        </p:nvSpPr>
        <p:spPr>
          <a:xfrm>
            <a:off x="7470648" y="3694176"/>
            <a:ext cx="3621023" cy="914400"/>
          </a:xfrm>
          <a:prstGeom prst="rect">
            <a:avLst/>
          </a:prstGeom>
          <a:noFill/>
        </p:spPr>
        <p:txBody>
          <a:bodyPr wrap="square" lIns="0" tIns="0" rIns="0" bIns="0" anchor="t">
            <a:spAutoFit/>
          </a:bodyPr>
          <a:lstStyle/>
          <a:p>
            <a:pPr algn="l"/>
            <a:r>
              <a:rPr sz="1400" b="1" i="0">
                <a:solidFill>
                  <a:srgbClr val="1F2329"/>
                </a:solidFill>
                <a:latin typeface="Public Sans"/>
              </a:rPr>
              <a:t>A short answer, </a:t>
            </a:r>
            <a:r>
              <a:rPr sz="1400" b="0" i="0">
                <a:solidFill>
                  <a:srgbClr val="4A4F57"/>
                </a:solidFill>
                <a:latin typeface="Public Sans"/>
              </a:rPr>
              <a:t>with the organizations listed and a citation for each one.</a:t>
            </a:r>
          </a:p>
        </p:txBody>
      </p:sp>
      <p:sp>
        <p:nvSpPr>
          <p:cNvPr id="18" name="Label"/>
          <p:cNvSpPr/>
          <p:nvPr/>
        </p:nvSpPr>
        <p:spPr>
          <a:xfrm>
            <a:off x="7470648" y="4443984"/>
            <a:ext cx="1371600" cy="292608"/>
          </a:xfrm>
          <a:prstGeom prst="roundRect">
            <a:avLst>
              <a:gd name="adj" fmla="val 25000"/>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70648" y="4443984"/>
            <a:ext cx="1371600" cy="292608"/>
          </a:xfrm>
          <a:prstGeom prst="rect">
            <a:avLst/>
          </a:prstGeom>
          <a:noFill/>
        </p:spPr>
        <p:txBody>
          <a:bodyPr wrap="square" lIns="0" tIns="0" rIns="0" bIns="0" anchor="ctr">
            <a:spAutoFit/>
          </a:bodyPr>
          <a:lstStyle/>
          <a:p>
            <a:pPr algn="ctr"/>
            <a:r>
              <a:rPr sz="1100" b="1" i="0">
                <a:solidFill>
                  <a:srgbClr val="2E7D5B"/>
                </a:solidFill>
                <a:latin typeface="Public Sans"/>
              </a:rPr>
              <a:t>Verified database</a:t>
            </a:r>
          </a:p>
        </p:txBody>
      </p:sp>
      <p:sp>
        <p:nvSpPr>
          <p:cNvPr id="20" name="Label"/>
          <p:cNvSpPr/>
          <p:nvPr/>
        </p:nvSpPr>
        <p:spPr>
          <a:xfrm>
            <a:off x="8951976" y="4443984"/>
            <a:ext cx="713232" cy="292608"/>
          </a:xfrm>
          <a:prstGeom prst="roundRect">
            <a:avLst>
              <a:gd name="adj" fmla="val 25000"/>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51976" y="4443984"/>
            <a:ext cx="713232" cy="292608"/>
          </a:xfrm>
          <a:prstGeom prst="rect">
            <a:avLst/>
          </a:prstGeom>
          <a:noFill/>
        </p:spPr>
        <p:txBody>
          <a:bodyPr wrap="square" lIns="0" tIns="0" rIns="0" bIns="0" anchor="ctr">
            <a:spAutoFit/>
          </a:bodyPr>
          <a:lstStyle/>
          <a:p>
            <a:pPr algn="ctr"/>
            <a:r>
              <a:rPr sz="1100" b="1" i="0">
                <a:solidFill>
                  <a:srgbClr val="B7791F"/>
                </a:solidFill>
                <a:latin typeface="Public Sans"/>
              </a:rPr>
              <a:t>Parked</a:t>
            </a:r>
          </a:p>
        </p:txBody>
      </p:sp>
      <p:sp>
        <p:nvSpPr>
          <p:cNvPr id="22" name="Label"/>
          <p:cNvSpPr/>
          <p:nvPr/>
        </p:nvSpPr>
        <p:spPr>
          <a:xfrm>
            <a:off x="9774936" y="4443984"/>
            <a:ext cx="1243584" cy="292608"/>
          </a:xfrm>
          <a:prstGeom prst="roundRect">
            <a:avLst>
              <a:gd name="adj" fmla="val 25000"/>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4443984"/>
            <a:ext cx="1243584" cy="292608"/>
          </a:xfrm>
          <a:prstGeom prst="rect">
            <a:avLst/>
          </a:prstGeom>
          <a:noFill/>
        </p:spPr>
        <p:txBody>
          <a:bodyPr wrap="square" lIns="0" tIns="0" rIns="0" bIns="0" anchor="ctr">
            <a:spAutoFit/>
          </a:bodyPr>
          <a:lstStyle/>
          <a:p>
            <a:pPr algn="ctr"/>
            <a:r>
              <a:rPr sz="1100" b="1" i="0">
                <a:solidFill>
                  <a:srgbClr val="4A5A8C"/>
                </a:solidFill>
                <a:latin typeface="Public Sans"/>
              </a:rPr>
              <a:t>Your document</a:t>
            </a:r>
          </a:p>
        </p:txBody>
      </p:sp>
      <p:sp>
        <p:nvSpPr>
          <p:cNvPr id="24" name="TextBox 23"/>
          <p:cNvSpPr txBox="1"/>
          <p:nvPr/>
        </p:nvSpPr>
        <p:spPr>
          <a:xfrm>
            <a:off x="7470648" y="4992624"/>
            <a:ext cx="3621023" cy="457200"/>
          </a:xfrm>
          <a:prstGeom prst="rect">
            <a:avLst/>
          </a:prstGeom>
          <a:noFill/>
        </p:spPr>
        <p:txBody>
          <a:bodyPr wrap="square" lIns="0" tIns="0" rIns="0" bIns="0" anchor="t">
            <a:spAutoFit/>
          </a:bodyPr>
          <a:lstStyle/>
          <a:p>
            <a:pPr algn="l"/>
            <a:r>
              <a:rPr sz="1300" b="1" i="0">
                <a:solidFill>
                  <a:srgbClr val="C2481C"/>
                </a:solidFill>
                <a:latin typeface="Public Sans"/>
              </a:rPr>
              <a:t>Not enough? </a:t>
            </a:r>
            <a:r>
              <a:rPr sz="1300" b="0" i="0">
                <a:solidFill>
                  <a:srgbClr val="4A4F57"/>
                </a:solidFill>
                <a:latin typeface="Public Sans"/>
              </a:rPr>
              <a:t>“Research this on the web” opens Explore and Map.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152144"/>
            <a:ext cx="10881360" cy="548640"/>
          </a:xfrm>
        </p:spPr>
        <p:txBody>
          <a:bodyPr/>
          <a:lstStyle/>
          <a:p>
            <a:r>
              <a:rPr sz="3000" b="1">
                <a:solidFill>
                  <a:srgbClr val="1F2329"/>
                </a:solidFill>
                <a:latin typeface="Libre Baskerville"/>
              </a:rPr>
              <a:t>Who else should we know?</a:t>
            </a:r>
          </a:p>
        </p:txBody>
      </p:sp>
      <p:sp>
        <p:nvSpPr>
          <p:cNvPr id="3" name="Eyebrow"/>
          <p:cNvSpPr txBox="1"/>
          <p:nvPr/>
        </p:nvSpPr>
        <p:spPr>
          <a:xfrm>
            <a:off x="813816" y="813816"/>
            <a:ext cx="10881360" cy="237744"/>
          </a:xfrm>
          <a:prstGeom prst="rect">
            <a:avLst/>
          </a:prstGeom>
          <a:noFill/>
        </p:spPr>
        <p:txBody>
          <a:bodyPr wrap="square" lIns="0" tIns="0" rIns="0" bIns="0" anchor="t">
            <a:spAutoFit/>
          </a:bodyPr>
          <a:lstStyle/>
          <a:p>
            <a:pPr algn="l"/>
            <a:r>
              <a:rPr sz="1200" b="1" i="0">
                <a:solidFill>
                  <a:srgbClr val="C2481C"/>
                </a:solidFill>
                <a:latin typeface="Public Sans"/>
              </a:rPr>
              <a:t>EXPLORE AND MAP</a:t>
            </a:r>
          </a:p>
        </p:txBody>
      </p:sp>
      <p:sp>
        <p:nvSpPr>
          <p:cNvPr id="4" name="Footer"/>
          <p:cNvSpPr txBox="1"/>
          <p:nvPr/>
        </p:nvSpPr>
        <p:spPr>
          <a:xfrm>
            <a:off x="813816" y="6236208"/>
            <a:ext cx="10515600" cy="237744"/>
          </a:xfrm>
          <a:prstGeom prst="rect">
            <a:avLst/>
          </a:prstGeom>
          <a:noFill/>
        </p:spPr>
        <p:txBody>
          <a:bodyPr wrap="square" lIns="0" tIns="0" rIns="0" bIns="0" anchor="t">
            <a:spAutoFit/>
          </a:bodyPr>
          <a:lstStyle/>
          <a:p>
            <a:pPr algn="l"/>
            <a:r>
              <a:rPr sz="1200" b="0" i="0">
                <a:solidFill>
                  <a:srgbClr val="6B7079"/>
                </a:solidFill>
                <a:latin typeface="Public Sans"/>
              </a:rPr>
              <a:t>COMPASS · Ecosystem Intelligence · 4</a:t>
            </a:r>
          </a:p>
        </p:txBody>
      </p:sp>
      <p:sp>
        <p:nvSpPr>
          <p:cNvPr id="5" name="TextBox 4"/>
          <p:cNvSpPr txBox="1"/>
          <p:nvPr/>
        </p:nvSpPr>
        <p:spPr>
          <a:xfrm>
            <a:off x="813816" y="2011680"/>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IT DOES</a:t>
            </a:r>
          </a:p>
        </p:txBody>
      </p:sp>
      <p:sp>
        <p:nvSpPr>
          <p:cNvPr id="6" name="TextBox 5"/>
          <p:cNvSpPr txBox="1"/>
          <p:nvPr/>
        </p:nvSpPr>
        <p:spPr>
          <a:xfrm>
            <a:off x="813816" y="2267712"/>
            <a:ext cx="5852160" cy="566928"/>
          </a:xfrm>
          <a:prstGeom prst="rect">
            <a:avLst/>
          </a:prstGeom>
          <a:noFill/>
        </p:spPr>
        <p:txBody>
          <a:bodyPr wrap="square" lIns="0" tIns="0" rIns="0" bIns="0" anchor="t">
            <a:spAutoFit/>
          </a:bodyPr>
          <a:lstStyle/>
          <a:p>
            <a:pPr algn="l"/>
            <a:r>
              <a:rPr sz="1500" b="0" i="0">
                <a:solidFill>
                  <a:srgbClr val="4A4F57"/>
                </a:solidFill>
                <a:latin typeface="Public Sans"/>
              </a:rPr>
              <a:t>Asks what you need, searches the web, and shows results under your message.</a:t>
            </a:r>
          </a:p>
        </p:txBody>
      </p:sp>
      <p:sp>
        <p:nvSpPr>
          <p:cNvPr id="7" name="TextBox 6"/>
          <p:cNvSpPr txBox="1"/>
          <p:nvPr/>
        </p:nvSpPr>
        <p:spPr>
          <a:xfrm>
            <a:off x="813816" y="2999232"/>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IT’S FOR</a:t>
            </a:r>
          </a:p>
        </p:txBody>
      </p:sp>
      <p:sp>
        <p:nvSpPr>
          <p:cNvPr id="8" name="TextBox 7"/>
          <p:cNvSpPr txBox="1"/>
          <p:nvPr/>
        </p:nvSpPr>
        <p:spPr>
          <a:xfrm>
            <a:off x="813816" y="3255264"/>
            <a:ext cx="5852160" cy="566928"/>
          </a:xfrm>
          <a:prstGeom prst="rect">
            <a:avLst/>
          </a:prstGeom>
          <a:noFill/>
        </p:spPr>
        <p:txBody>
          <a:bodyPr wrap="square" lIns="0" tIns="0" rIns="0" bIns="0" anchor="t">
            <a:spAutoFit/>
          </a:bodyPr>
          <a:lstStyle/>
          <a:p>
            <a:pPr algn="l"/>
            <a:r>
              <a:rPr sz="1500" b="0" i="0">
                <a:solidFill>
                  <a:srgbClr val="4A4F57"/>
                </a:solidFill>
                <a:latin typeface="Public Sans"/>
              </a:rPr>
              <a:t>Finding new organizations, people and events for a goal, sector and area.</a:t>
            </a:r>
          </a:p>
        </p:txBody>
      </p:sp>
      <p:sp>
        <p:nvSpPr>
          <p:cNvPr id="9" name="TextBox 8"/>
          <p:cNvSpPr txBox="1"/>
          <p:nvPr/>
        </p:nvSpPr>
        <p:spPr>
          <a:xfrm>
            <a:off x="813816" y="3986784"/>
            <a:ext cx="5852160" cy="219456"/>
          </a:xfrm>
          <a:prstGeom prst="rect">
            <a:avLst/>
          </a:prstGeom>
          <a:noFill/>
        </p:spPr>
        <p:txBody>
          <a:bodyPr wrap="square" lIns="0" tIns="0" rIns="0" bIns="0" anchor="t">
            <a:spAutoFit/>
          </a:bodyPr>
          <a:lstStyle/>
          <a:p>
            <a:pPr algn="l"/>
            <a:r>
              <a:rPr sz="1100" b="1" i="0">
                <a:solidFill>
                  <a:srgbClr val="C2481C"/>
                </a:solidFill>
                <a:latin typeface="Public Sans"/>
              </a:rPr>
              <a:t>SOURCE OF INFORMATION</a:t>
            </a:r>
          </a:p>
        </p:txBody>
      </p:sp>
      <p:sp>
        <p:nvSpPr>
          <p:cNvPr id="10" name="TextBox 9"/>
          <p:cNvSpPr txBox="1"/>
          <p:nvPr/>
        </p:nvSpPr>
        <p:spPr>
          <a:xfrm>
            <a:off x="813816" y="4242816"/>
            <a:ext cx="5852160" cy="566928"/>
          </a:xfrm>
          <a:prstGeom prst="rect">
            <a:avLst/>
          </a:prstGeom>
          <a:noFill/>
        </p:spPr>
        <p:txBody>
          <a:bodyPr wrap="square" lIns="0" tIns="0" rIns="0" bIns="0" anchor="t">
            <a:spAutoFit/>
          </a:bodyPr>
          <a:lstStyle/>
          <a:p>
            <a:pPr algn="l"/>
            <a:r>
              <a:rPr sz="1500" b="0" i="0">
                <a:solidFill>
                  <a:srgbClr val="4A4F57"/>
                </a:solidFill>
                <a:latin typeface="Public Sans"/>
              </a:rPr>
              <a:t>Public websites found through web search. Compass reads each page, and every result links to the pages behind it.</a:t>
            </a:r>
          </a:p>
        </p:txBody>
      </p:sp>
      <p:sp>
        <p:nvSpPr>
          <p:cNvPr id="11" name="TextBox 10"/>
          <p:cNvSpPr txBox="1"/>
          <p:nvPr/>
        </p:nvSpPr>
        <p:spPr>
          <a:xfrm>
            <a:off x="813816" y="4974336"/>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YOU GET</a:t>
            </a:r>
          </a:p>
        </p:txBody>
      </p:sp>
      <p:sp>
        <p:nvSpPr>
          <p:cNvPr id="12" name="TextBox 11"/>
          <p:cNvSpPr txBox="1"/>
          <p:nvPr/>
        </p:nvSpPr>
        <p:spPr>
          <a:xfrm>
            <a:off x="813816" y="5230368"/>
            <a:ext cx="5852160" cy="566928"/>
          </a:xfrm>
          <a:prstGeom prst="rect">
            <a:avLst/>
          </a:prstGeom>
          <a:noFill/>
        </p:spPr>
        <p:txBody>
          <a:bodyPr wrap="square" lIns="0" tIns="0" rIns="0" bIns="0" anchor="t">
            <a:spAutoFit/>
          </a:bodyPr>
          <a:lstStyle/>
          <a:p>
            <a:pPr algn="l"/>
            <a:r>
              <a:rPr sz="1500" b="0" i="0">
                <a:solidFill>
                  <a:srgbClr val="4A4F57"/>
                </a:solidFill>
                <a:latin typeface="Public Sans"/>
              </a:rPr>
              <a:t>A map you review card by card, then save the verified records in one batch.</a:t>
            </a:r>
          </a:p>
        </p:txBody>
      </p:sp>
      <p:sp>
        <p:nvSpPr>
          <p:cNvPr id="13" name="Example card"/>
          <p:cNvSpPr/>
          <p:nvPr/>
        </p:nvSpPr>
        <p:spPr>
          <a:xfrm>
            <a:off x="7178040" y="2011680"/>
            <a:ext cx="4206240" cy="3794760"/>
          </a:xfrm>
          <a:prstGeom prst="roundRect">
            <a:avLst>
              <a:gd name="adj" fmla="val 1927"/>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70648" y="2286000"/>
            <a:ext cx="3621023" cy="219456"/>
          </a:xfrm>
          <a:prstGeom prst="rect">
            <a:avLst/>
          </a:prstGeom>
          <a:noFill/>
        </p:spPr>
        <p:txBody>
          <a:bodyPr wrap="square" lIns="0" tIns="0" rIns="0" bIns="0" anchor="t">
            <a:spAutoFit/>
          </a:bodyPr>
          <a:lstStyle/>
          <a:p>
            <a:pPr algn="l"/>
            <a:r>
              <a:rPr sz="1100" b="1" i="0">
                <a:solidFill>
                  <a:srgbClr val="6B7079"/>
                </a:solidFill>
                <a:latin typeface="Public Sans"/>
              </a:rPr>
              <a:t>EXAMPLE</a:t>
            </a:r>
          </a:p>
        </p:txBody>
      </p:sp>
      <p:sp>
        <p:nvSpPr>
          <p:cNvPr id="15" name="Message"/>
          <p:cNvSpPr/>
          <p:nvPr/>
        </p:nvSpPr>
        <p:spPr>
          <a:xfrm>
            <a:off x="7927848" y="2615184"/>
            <a:ext cx="3163823" cy="658368"/>
          </a:xfrm>
          <a:prstGeom prst="roundRect">
            <a:avLst>
              <a:gd name="adj" fmla="val 11111"/>
            </a:avLst>
          </a:prstGeom>
          <a:solidFill>
            <a:srgbClr val="C24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92440" y="2615184"/>
            <a:ext cx="2834639" cy="658368"/>
          </a:xfrm>
          <a:prstGeom prst="rect">
            <a:avLst/>
          </a:prstGeom>
          <a:noFill/>
        </p:spPr>
        <p:txBody>
          <a:bodyPr wrap="square" lIns="0" tIns="0" rIns="0" bIns="0" anchor="ctr">
            <a:spAutoFit/>
          </a:bodyPr>
          <a:lstStyle/>
          <a:p>
            <a:pPr algn="l"/>
            <a:r>
              <a:rPr sz="1300" b="1" i="0">
                <a:solidFill>
                  <a:srgbClr val="FFFFFF"/>
                </a:solidFill>
                <a:latin typeface="Public Sans"/>
              </a:rPr>
              <a:t>“US partners for UM6P’s work on phosphate fertilizers and soil health.”</a:t>
            </a:r>
          </a:p>
        </p:txBody>
      </p:sp>
      <p:sp>
        <p:nvSpPr>
          <p:cNvPr id="17" name="Message"/>
          <p:cNvSpPr/>
          <p:nvPr/>
        </p:nvSpPr>
        <p:spPr>
          <a:xfrm>
            <a:off x="7470648" y="3401568"/>
            <a:ext cx="3163823" cy="457200"/>
          </a:xfrm>
          <a:prstGeom prst="roundRect">
            <a:avLst>
              <a:gd name="adj" fmla="val 16000"/>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35240" y="3401568"/>
            <a:ext cx="2834639" cy="457200"/>
          </a:xfrm>
          <a:prstGeom prst="rect">
            <a:avLst/>
          </a:prstGeom>
          <a:noFill/>
        </p:spPr>
        <p:txBody>
          <a:bodyPr wrap="square" lIns="0" tIns="0" rIns="0" bIns="0" anchor="ctr">
            <a:spAutoFit/>
          </a:bodyPr>
          <a:lstStyle/>
          <a:p>
            <a:pPr algn="l"/>
            <a:r>
              <a:rPr sz="1300" b="0" i="0">
                <a:solidFill>
                  <a:srgbClr val="1F2329"/>
                </a:solidFill>
                <a:latin typeface="Public Sans"/>
              </a:rPr>
              <a:t>Compass asks: what type, and where?</a:t>
            </a:r>
          </a:p>
        </p:txBody>
      </p:sp>
      <p:sp>
        <p:nvSpPr>
          <p:cNvPr id="19" name="Message"/>
          <p:cNvSpPr/>
          <p:nvPr/>
        </p:nvSpPr>
        <p:spPr>
          <a:xfrm>
            <a:off x="7927848" y="3986784"/>
            <a:ext cx="3163823" cy="457200"/>
          </a:xfrm>
          <a:prstGeom prst="roundRect">
            <a:avLst>
              <a:gd name="adj" fmla="val 16000"/>
            </a:avLst>
          </a:prstGeom>
          <a:solidFill>
            <a:srgbClr val="C24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92440" y="3986784"/>
            <a:ext cx="2834639" cy="457200"/>
          </a:xfrm>
          <a:prstGeom prst="rect">
            <a:avLst/>
          </a:prstGeom>
          <a:noFill/>
        </p:spPr>
        <p:txBody>
          <a:bodyPr wrap="square" lIns="0" tIns="0" rIns="0" bIns="0" anchor="ctr">
            <a:spAutoFit/>
          </a:bodyPr>
          <a:lstStyle/>
          <a:p>
            <a:pPr algn="l"/>
            <a:r>
              <a:rPr sz="1300" b="1" i="0">
                <a:solidFill>
                  <a:srgbClr val="FFFFFF"/>
                </a:solidFill>
                <a:latin typeface="Public Sans"/>
              </a:rPr>
              <a:t>“Research centers first, in Florida.”</a:t>
            </a:r>
          </a:p>
        </p:txBody>
      </p:sp>
      <p:sp>
        <p:nvSpPr>
          <p:cNvPr id="21" name="TextBox 20"/>
          <p:cNvSpPr txBox="1"/>
          <p:nvPr/>
        </p:nvSpPr>
        <p:spPr>
          <a:xfrm>
            <a:off x="7470648" y="4626864"/>
            <a:ext cx="3621023" cy="868680"/>
          </a:xfrm>
          <a:prstGeom prst="rect">
            <a:avLst/>
          </a:prstGeom>
          <a:noFill/>
        </p:spPr>
        <p:txBody>
          <a:bodyPr wrap="square" lIns="0" tIns="0" rIns="0" bIns="0" anchor="t">
            <a:spAutoFit/>
          </a:bodyPr>
          <a:lstStyle/>
          <a:p>
            <a:pPr algn="l"/>
            <a:r>
              <a:rPr sz="1300" b="1" i="0">
                <a:solidFill>
                  <a:srgbClr val="1F2329"/>
                </a:solidFill>
                <a:latin typeface="Public Sans"/>
              </a:rPr>
              <a:t>Results appear under the message. </a:t>
            </a:r>
            <a:r>
              <a:rPr sz="1300" b="0" i="0">
                <a:solidFill>
                  <a:srgbClr val="4A4F57"/>
                </a:solidFill>
                <a:latin typeface="Public Sans"/>
              </a:rPr>
              <a:t>Verify, Park or Reject each card, then save the verified ones to the directory.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152144"/>
            <a:ext cx="10881360" cy="548640"/>
          </a:xfrm>
        </p:spPr>
        <p:txBody>
          <a:bodyPr/>
          <a:lstStyle/>
          <a:p>
            <a:r>
              <a:rPr sz="3000" b="1">
                <a:solidFill>
                  <a:srgbClr val="1F2329"/>
                </a:solidFill>
                <a:latin typeface="Libre Baskerville"/>
              </a:rPr>
              <a:t>What we keep</a:t>
            </a:r>
          </a:p>
        </p:txBody>
      </p:sp>
      <p:sp>
        <p:nvSpPr>
          <p:cNvPr id="3" name="Eyebrow"/>
          <p:cNvSpPr txBox="1"/>
          <p:nvPr/>
        </p:nvSpPr>
        <p:spPr>
          <a:xfrm>
            <a:off x="813816" y="813816"/>
            <a:ext cx="10881360" cy="237744"/>
          </a:xfrm>
          <a:prstGeom prst="rect">
            <a:avLst/>
          </a:prstGeom>
          <a:noFill/>
        </p:spPr>
        <p:txBody>
          <a:bodyPr wrap="square" lIns="0" tIns="0" rIns="0" bIns="0" anchor="t">
            <a:spAutoFit/>
          </a:bodyPr>
          <a:lstStyle/>
          <a:p>
            <a:pPr algn="l"/>
            <a:r>
              <a:rPr sz="1200" b="1" i="0">
                <a:solidFill>
                  <a:srgbClr val="C2481C"/>
                </a:solidFill>
                <a:latin typeface="Public Sans"/>
              </a:rPr>
              <a:t>ECOSYSTEM DIRECTORY</a:t>
            </a:r>
          </a:p>
        </p:txBody>
      </p:sp>
      <p:sp>
        <p:nvSpPr>
          <p:cNvPr id="4" name="Footer"/>
          <p:cNvSpPr txBox="1"/>
          <p:nvPr/>
        </p:nvSpPr>
        <p:spPr>
          <a:xfrm>
            <a:off x="813816" y="6236208"/>
            <a:ext cx="10515600" cy="237744"/>
          </a:xfrm>
          <a:prstGeom prst="rect">
            <a:avLst/>
          </a:prstGeom>
          <a:noFill/>
        </p:spPr>
        <p:txBody>
          <a:bodyPr wrap="square" lIns="0" tIns="0" rIns="0" bIns="0" anchor="t">
            <a:spAutoFit/>
          </a:bodyPr>
          <a:lstStyle/>
          <a:p>
            <a:pPr algn="l"/>
            <a:r>
              <a:rPr sz="1200" b="0" i="0">
                <a:solidFill>
                  <a:srgbClr val="6B7079"/>
                </a:solidFill>
                <a:latin typeface="Public Sans"/>
              </a:rPr>
              <a:t>COMPASS · Ecosystem Intelligence · 5</a:t>
            </a:r>
          </a:p>
        </p:txBody>
      </p:sp>
      <p:sp>
        <p:nvSpPr>
          <p:cNvPr id="5" name="TextBox 4"/>
          <p:cNvSpPr txBox="1"/>
          <p:nvPr/>
        </p:nvSpPr>
        <p:spPr>
          <a:xfrm>
            <a:off x="813816" y="2011680"/>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IT DOES</a:t>
            </a:r>
          </a:p>
        </p:txBody>
      </p:sp>
      <p:sp>
        <p:nvSpPr>
          <p:cNvPr id="6" name="TextBox 5"/>
          <p:cNvSpPr txBox="1"/>
          <p:nvPr/>
        </p:nvSpPr>
        <p:spPr>
          <a:xfrm>
            <a:off x="813816" y="2267712"/>
            <a:ext cx="5852160" cy="566928"/>
          </a:xfrm>
          <a:prstGeom prst="rect">
            <a:avLst/>
          </a:prstGeom>
          <a:noFill/>
        </p:spPr>
        <p:txBody>
          <a:bodyPr wrap="square" lIns="0" tIns="0" rIns="0" bIns="0" anchor="t">
            <a:spAutoFit/>
          </a:bodyPr>
          <a:lstStyle/>
          <a:p>
            <a:pPr algn="l"/>
            <a:r>
              <a:rPr sz="1500" b="0" i="0">
                <a:solidFill>
                  <a:srgbClr val="4A4F57"/>
                </a:solidFill>
                <a:latin typeface="Public Sans"/>
              </a:rPr>
              <a:t>Shows every organization, hub, person and event, with search and filters.</a:t>
            </a:r>
          </a:p>
        </p:txBody>
      </p:sp>
      <p:sp>
        <p:nvSpPr>
          <p:cNvPr id="7" name="TextBox 6"/>
          <p:cNvSpPr txBox="1"/>
          <p:nvPr/>
        </p:nvSpPr>
        <p:spPr>
          <a:xfrm>
            <a:off x="813816" y="2999232"/>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IT’S FOR</a:t>
            </a:r>
          </a:p>
        </p:txBody>
      </p:sp>
      <p:sp>
        <p:nvSpPr>
          <p:cNvPr id="8" name="TextBox 7"/>
          <p:cNvSpPr txBox="1"/>
          <p:nvPr/>
        </p:nvSpPr>
        <p:spPr>
          <a:xfrm>
            <a:off x="813816" y="3255264"/>
            <a:ext cx="5852160" cy="566928"/>
          </a:xfrm>
          <a:prstGeom prst="rect">
            <a:avLst/>
          </a:prstGeom>
          <a:noFill/>
        </p:spPr>
        <p:txBody>
          <a:bodyPr wrap="square" lIns="0" tIns="0" rIns="0" bIns="0" anchor="t">
            <a:spAutoFit/>
          </a:bodyPr>
          <a:lstStyle/>
          <a:p>
            <a:pPr algn="l"/>
            <a:r>
              <a:rPr sz="1500" b="0" i="0">
                <a:solidFill>
                  <a:srgbClr val="4A4F57"/>
                </a:solidFill>
                <a:latin typeface="Public Sans"/>
              </a:rPr>
              <a:t>One trusted place to look up, compare and export partners.</a:t>
            </a:r>
          </a:p>
        </p:txBody>
      </p:sp>
      <p:sp>
        <p:nvSpPr>
          <p:cNvPr id="9" name="TextBox 8"/>
          <p:cNvSpPr txBox="1"/>
          <p:nvPr/>
        </p:nvSpPr>
        <p:spPr>
          <a:xfrm>
            <a:off x="813816" y="3986784"/>
            <a:ext cx="5852160" cy="219456"/>
          </a:xfrm>
          <a:prstGeom prst="rect">
            <a:avLst/>
          </a:prstGeom>
          <a:noFill/>
        </p:spPr>
        <p:txBody>
          <a:bodyPr wrap="square" lIns="0" tIns="0" rIns="0" bIns="0" anchor="t">
            <a:spAutoFit/>
          </a:bodyPr>
          <a:lstStyle/>
          <a:p>
            <a:pPr algn="l"/>
            <a:r>
              <a:rPr sz="1100" b="1" i="0">
                <a:solidFill>
                  <a:srgbClr val="C2481C"/>
                </a:solidFill>
                <a:latin typeface="Public Sans"/>
              </a:rPr>
              <a:t>SOURCE OF INFORMATION</a:t>
            </a:r>
          </a:p>
        </p:txBody>
      </p:sp>
      <p:sp>
        <p:nvSpPr>
          <p:cNvPr id="10" name="TextBox 9"/>
          <p:cNvSpPr txBox="1"/>
          <p:nvPr/>
        </p:nvSpPr>
        <p:spPr>
          <a:xfrm>
            <a:off x="813816" y="4242816"/>
            <a:ext cx="5852160" cy="566928"/>
          </a:xfrm>
          <a:prstGeom prst="rect">
            <a:avLst/>
          </a:prstGeom>
          <a:noFill/>
        </p:spPr>
        <p:txBody>
          <a:bodyPr wrap="square" lIns="0" tIns="0" rIns="0" bIns="0" anchor="t">
            <a:spAutoFit/>
          </a:bodyPr>
          <a:lstStyle/>
          <a:p>
            <a:pPr algn="l"/>
            <a:r>
              <a:rPr sz="1500" b="0" i="0">
                <a:solidFill>
                  <a:srgbClr val="4A4F57"/>
                </a:solidFill>
                <a:latin typeface="Public Sans"/>
              </a:rPr>
              <a:t>Records imported by GHUS, plus records AI mapped and verified by the team.</a:t>
            </a:r>
          </a:p>
        </p:txBody>
      </p:sp>
      <p:sp>
        <p:nvSpPr>
          <p:cNvPr id="11" name="TextBox 10"/>
          <p:cNvSpPr txBox="1"/>
          <p:nvPr/>
        </p:nvSpPr>
        <p:spPr>
          <a:xfrm>
            <a:off x="813816" y="4974336"/>
            <a:ext cx="5852160" cy="219456"/>
          </a:xfrm>
          <a:prstGeom prst="rect">
            <a:avLst/>
          </a:prstGeom>
          <a:noFill/>
        </p:spPr>
        <p:txBody>
          <a:bodyPr wrap="square" lIns="0" tIns="0" rIns="0" bIns="0" anchor="t">
            <a:spAutoFit/>
          </a:bodyPr>
          <a:lstStyle/>
          <a:p>
            <a:pPr algn="l"/>
            <a:r>
              <a:rPr sz="1100" b="1" i="0">
                <a:solidFill>
                  <a:srgbClr val="C2481C"/>
                </a:solidFill>
                <a:latin typeface="Public Sans"/>
              </a:rPr>
              <a:t>WHAT YOU GET</a:t>
            </a:r>
          </a:p>
        </p:txBody>
      </p:sp>
      <p:sp>
        <p:nvSpPr>
          <p:cNvPr id="12" name="TextBox 11"/>
          <p:cNvSpPr txBox="1"/>
          <p:nvPr/>
        </p:nvSpPr>
        <p:spPr>
          <a:xfrm>
            <a:off x="813816" y="5230368"/>
            <a:ext cx="5852160" cy="566928"/>
          </a:xfrm>
          <a:prstGeom prst="rect">
            <a:avLst/>
          </a:prstGeom>
          <a:noFill/>
        </p:spPr>
        <p:txBody>
          <a:bodyPr wrap="square" lIns="0" tIns="0" rIns="0" bIns="0" anchor="t">
            <a:spAutoFit/>
          </a:bodyPr>
          <a:lstStyle/>
          <a:p>
            <a:pPr algn="l"/>
            <a:r>
              <a:rPr sz="1500" b="0" i="0">
                <a:solidFill>
                  <a:srgbClr val="4A4F57"/>
                </a:solidFill>
                <a:latin typeface="Public Sans"/>
              </a:rPr>
              <a:t>A profile per record with its sources, status and history.</a:t>
            </a:r>
          </a:p>
        </p:txBody>
      </p:sp>
      <p:sp>
        <p:nvSpPr>
          <p:cNvPr id="13" name="Example card"/>
          <p:cNvSpPr/>
          <p:nvPr/>
        </p:nvSpPr>
        <p:spPr>
          <a:xfrm>
            <a:off x="7178040" y="2011680"/>
            <a:ext cx="4206240" cy="3794760"/>
          </a:xfrm>
          <a:prstGeom prst="roundRect">
            <a:avLst>
              <a:gd name="adj" fmla="val 1927"/>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70648" y="2286000"/>
            <a:ext cx="3621023" cy="219456"/>
          </a:xfrm>
          <a:prstGeom prst="rect">
            <a:avLst/>
          </a:prstGeom>
          <a:noFill/>
        </p:spPr>
        <p:txBody>
          <a:bodyPr wrap="square" lIns="0" tIns="0" rIns="0" bIns="0" anchor="t">
            <a:spAutoFit/>
          </a:bodyPr>
          <a:lstStyle/>
          <a:p>
            <a:pPr algn="l"/>
            <a:r>
              <a:rPr sz="1100" b="1" i="0">
                <a:solidFill>
                  <a:srgbClr val="6B7079"/>
                </a:solidFill>
                <a:latin typeface="Public Sans"/>
              </a:rPr>
              <a:t>EXAMPLE</a:t>
            </a:r>
          </a:p>
        </p:txBody>
      </p:sp>
      <p:sp>
        <p:nvSpPr>
          <p:cNvPr id="15" name="Filter"/>
          <p:cNvSpPr/>
          <p:nvPr/>
        </p:nvSpPr>
        <p:spPr>
          <a:xfrm>
            <a:off x="7470648" y="2615184"/>
            <a:ext cx="1815084" cy="365760"/>
          </a:xfrm>
          <a:prstGeom prst="roundRect">
            <a:avLst>
              <a:gd name="adj" fmla="val 20000"/>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70648" y="2615184"/>
            <a:ext cx="1815084" cy="365760"/>
          </a:xfrm>
          <a:prstGeom prst="rect">
            <a:avLst/>
          </a:prstGeom>
          <a:noFill/>
        </p:spPr>
        <p:txBody>
          <a:bodyPr wrap="square" lIns="0" tIns="0" rIns="0" bIns="0" anchor="ctr">
            <a:spAutoFit/>
          </a:bodyPr>
          <a:lstStyle/>
          <a:p>
            <a:pPr algn="ctr"/>
            <a:r>
              <a:rPr sz="1200" b="1" i="0">
                <a:solidFill>
                  <a:srgbClr val="1F2329"/>
                </a:solidFill>
                <a:latin typeface="Public Sans"/>
              </a:rPr>
              <a:t>Energy Transition</a:t>
            </a:r>
          </a:p>
        </p:txBody>
      </p:sp>
      <p:sp>
        <p:nvSpPr>
          <p:cNvPr id="17" name="Filter"/>
          <p:cNvSpPr/>
          <p:nvPr/>
        </p:nvSpPr>
        <p:spPr>
          <a:xfrm>
            <a:off x="9395460" y="2615184"/>
            <a:ext cx="662940" cy="365760"/>
          </a:xfrm>
          <a:prstGeom prst="roundRect">
            <a:avLst>
              <a:gd name="adj" fmla="val 20000"/>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95460" y="2615184"/>
            <a:ext cx="662940" cy="365760"/>
          </a:xfrm>
          <a:prstGeom prst="rect">
            <a:avLst/>
          </a:prstGeom>
          <a:noFill/>
        </p:spPr>
        <p:txBody>
          <a:bodyPr wrap="square" lIns="0" tIns="0" rIns="0" bIns="0" anchor="ctr">
            <a:spAutoFit/>
          </a:bodyPr>
          <a:lstStyle/>
          <a:p>
            <a:pPr algn="ctr"/>
            <a:r>
              <a:rPr sz="1200" b="1" i="0">
                <a:solidFill>
                  <a:srgbClr val="1F2329"/>
                </a:solidFill>
                <a:latin typeface="Public Sans"/>
              </a:rPr>
              <a:t>Texas</a:t>
            </a:r>
          </a:p>
        </p:txBody>
      </p:sp>
      <p:sp>
        <p:nvSpPr>
          <p:cNvPr id="19" name="Filter"/>
          <p:cNvSpPr/>
          <p:nvPr/>
        </p:nvSpPr>
        <p:spPr>
          <a:xfrm>
            <a:off x="10168128" y="2615184"/>
            <a:ext cx="854964" cy="365760"/>
          </a:xfrm>
          <a:prstGeom prst="roundRect">
            <a:avLst>
              <a:gd name="adj" fmla="val 20000"/>
            </a:avLst>
          </a:prstGeom>
          <a:solidFill>
            <a:srgbClr val="F5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68128" y="2615184"/>
            <a:ext cx="854964" cy="365760"/>
          </a:xfrm>
          <a:prstGeom prst="rect">
            <a:avLst/>
          </a:prstGeom>
          <a:noFill/>
        </p:spPr>
        <p:txBody>
          <a:bodyPr wrap="square" lIns="0" tIns="0" rIns="0" bIns="0" anchor="ctr">
            <a:spAutoFit/>
          </a:bodyPr>
          <a:lstStyle/>
          <a:p>
            <a:pPr algn="ctr"/>
            <a:r>
              <a:rPr sz="1200" b="1" i="0">
                <a:solidFill>
                  <a:srgbClr val="1F2329"/>
                </a:solidFill>
                <a:latin typeface="Public Sans"/>
              </a:rPr>
              <a:t>Houston</a:t>
            </a:r>
          </a:p>
        </p:txBody>
      </p:sp>
      <p:sp>
        <p:nvSpPr>
          <p:cNvPr id="21" name="TextBox 20"/>
          <p:cNvSpPr txBox="1"/>
          <p:nvPr/>
        </p:nvSpPr>
        <p:spPr>
          <a:xfrm>
            <a:off x="7470648" y="3182112"/>
            <a:ext cx="3621023" cy="548640"/>
          </a:xfrm>
          <a:prstGeom prst="rect">
            <a:avLst/>
          </a:prstGeom>
          <a:noFill/>
        </p:spPr>
        <p:txBody>
          <a:bodyPr wrap="square" lIns="0" tIns="0" rIns="0" bIns="0" anchor="t">
            <a:spAutoFit/>
          </a:bodyPr>
          <a:lstStyle/>
          <a:p>
            <a:pPr algn="l"/>
            <a:r>
              <a:rPr sz="3200" b="1" i="0">
                <a:solidFill>
                  <a:srgbClr val="1F2329"/>
                </a:solidFill>
                <a:latin typeface="Libre Baskerville"/>
              </a:rPr>
              <a:t>43</a:t>
            </a:r>
            <a:r>
              <a:rPr sz="1400" b="0" i="0">
                <a:solidFill>
                  <a:srgbClr val="4A4F57"/>
                </a:solidFill>
                <a:latin typeface="Public Sans"/>
              </a:rPr>
              <a:t>  organizations shown</a:t>
            </a:r>
          </a:p>
        </p:txBody>
      </p:sp>
      <p:sp>
        <p:nvSpPr>
          <p:cNvPr id="22" name="TextBox 21"/>
          <p:cNvSpPr txBox="1"/>
          <p:nvPr/>
        </p:nvSpPr>
        <p:spPr>
          <a:xfrm>
            <a:off x="7470648" y="3941064"/>
            <a:ext cx="3621023" cy="1463040"/>
          </a:xfrm>
          <a:prstGeom prst="rect">
            <a:avLst/>
          </a:prstGeom>
          <a:noFill/>
        </p:spPr>
        <p:txBody>
          <a:bodyPr wrap="square" lIns="0" tIns="0" rIns="0" bIns="0" anchor="t">
            <a:spAutoFit/>
          </a:bodyPr>
          <a:lstStyle/>
          <a:p>
            <a:pPr algn="l">
              <a:spcAft>
                <a:spcPts val="800"/>
              </a:spcAft>
            </a:pPr>
            <a:r>
              <a:rPr sz="1300" b="0" i="0">
                <a:solidFill>
                  <a:srgbClr val="4A4F57"/>
                </a:solidFill>
                <a:latin typeface="Public Sans"/>
              </a:rPr>
              <a:t>Open a profile: description, sources, status and history.</a:t>
            </a:r>
          </a:p>
          <a:p>
            <a:pPr algn="l">
              <a:spcAft>
                <a:spcPts val="800"/>
              </a:spcAft>
            </a:pPr>
            <a:r>
              <a:rPr sz="1300" b="0" i="0">
                <a:solidFill>
                  <a:srgbClr val="4A4F57"/>
                </a:solidFill>
                <a:latin typeface="Public Sans"/>
              </a:rPr>
              <a:t>Export the list as CSV.</a:t>
            </a:r>
          </a:p>
          <a:p>
            <a:pPr algn="l">
              <a:spcAft>
                <a:spcPts val="800"/>
              </a:spcAft>
            </a:pPr>
            <a:r>
              <a:rPr sz="1300" b="0" i="0">
                <a:solidFill>
                  <a:srgbClr val="4A4F57"/>
                </a:solidFill>
                <a:latin typeface="Public Sans"/>
              </a:rPr>
              <a:t>Remove a record: it can always be restored.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152144"/>
            <a:ext cx="10881360" cy="548640"/>
          </a:xfrm>
        </p:spPr>
        <p:txBody>
          <a:bodyPr/>
          <a:lstStyle/>
          <a:p>
            <a:r>
              <a:rPr sz="3000" b="1">
                <a:solidFill>
                  <a:srgbClr val="1F2329"/>
                </a:solidFill>
                <a:latin typeface="Libre Baskerville"/>
              </a:rPr>
              <a:t>Why not just Google or ChatGPT?</a:t>
            </a:r>
          </a:p>
        </p:txBody>
      </p:sp>
      <p:sp>
        <p:nvSpPr>
          <p:cNvPr id="3" name="Eyebrow"/>
          <p:cNvSpPr txBox="1"/>
          <p:nvPr/>
        </p:nvSpPr>
        <p:spPr>
          <a:xfrm>
            <a:off x="813816" y="813816"/>
            <a:ext cx="10881360" cy="237744"/>
          </a:xfrm>
          <a:prstGeom prst="rect">
            <a:avLst/>
          </a:prstGeom>
          <a:noFill/>
        </p:spPr>
        <p:txBody>
          <a:bodyPr wrap="square" lIns="0" tIns="0" rIns="0" bIns="0" anchor="t">
            <a:spAutoFit/>
          </a:bodyPr>
          <a:lstStyle/>
          <a:p>
            <a:pPr algn="l"/>
            <a:r>
              <a:rPr sz="1200" b="1" i="0">
                <a:solidFill>
                  <a:srgbClr val="C2481C"/>
                </a:solidFill>
                <a:latin typeface="Public Sans"/>
              </a:rPr>
              <a:t>WHY COMPASS</a:t>
            </a:r>
          </a:p>
        </p:txBody>
      </p:sp>
      <p:sp>
        <p:nvSpPr>
          <p:cNvPr id="4" name="Footer"/>
          <p:cNvSpPr txBox="1"/>
          <p:nvPr/>
        </p:nvSpPr>
        <p:spPr>
          <a:xfrm>
            <a:off x="813816" y="6236208"/>
            <a:ext cx="10515600" cy="237744"/>
          </a:xfrm>
          <a:prstGeom prst="rect">
            <a:avLst/>
          </a:prstGeom>
          <a:noFill/>
        </p:spPr>
        <p:txBody>
          <a:bodyPr wrap="square" lIns="0" tIns="0" rIns="0" bIns="0" anchor="t">
            <a:spAutoFit/>
          </a:bodyPr>
          <a:lstStyle/>
          <a:p>
            <a:pPr algn="l"/>
            <a:r>
              <a:rPr sz="1200" b="0" i="0">
                <a:solidFill>
                  <a:srgbClr val="6B7079"/>
                </a:solidFill>
                <a:latin typeface="Public Sans"/>
              </a:rPr>
              <a:t>COMPASS · Ecosystem Intelligence · 6</a:t>
            </a:r>
          </a:p>
        </p:txBody>
      </p:sp>
      <p:sp>
        <p:nvSpPr>
          <p:cNvPr id="5" name="Header"/>
          <p:cNvSpPr/>
          <p:nvPr/>
        </p:nvSpPr>
        <p:spPr>
          <a:xfrm>
            <a:off x="813816" y="1920240"/>
            <a:ext cx="2331720" cy="457200"/>
          </a:xfrm>
          <a:prstGeom prst="rect">
            <a:avLst/>
          </a:prstGeom>
          <a:solidFill>
            <a:srgbClr val="1F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20240"/>
            <a:ext cx="2057400" cy="457200"/>
          </a:xfrm>
          <a:prstGeom prst="rect">
            <a:avLst/>
          </a:prstGeom>
          <a:noFill/>
        </p:spPr>
        <p:txBody>
          <a:bodyPr wrap="square" lIns="0" tIns="0" rIns="0" bIns="0" anchor="ctr">
            <a:spAutoFit/>
          </a:bodyPr>
          <a:lstStyle/>
          <a:p>
            <a:pPr algn="l"/>
            <a:endParaRPr/>
          </a:p>
        </p:txBody>
      </p:sp>
      <p:sp>
        <p:nvSpPr>
          <p:cNvPr id="7" name="Header"/>
          <p:cNvSpPr/>
          <p:nvPr/>
        </p:nvSpPr>
        <p:spPr>
          <a:xfrm>
            <a:off x="3145536" y="1920240"/>
            <a:ext cx="2240280" cy="457200"/>
          </a:xfrm>
          <a:prstGeom prst="rect">
            <a:avLst/>
          </a:prstGeom>
          <a:solidFill>
            <a:srgbClr val="1F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91840" y="1920240"/>
            <a:ext cx="1965960" cy="457200"/>
          </a:xfrm>
          <a:prstGeom prst="rect">
            <a:avLst/>
          </a:prstGeom>
          <a:noFill/>
        </p:spPr>
        <p:txBody>
          <a:bodyPr wrap="square" lIns="0" tIns="0" rIns="0" bIns="0" anchor="ctr">
            <a:spAutoFit/>
          </a:bodyPr>
          <a:lstStyle/>
          <a:p>
            <a:pPr algn="l"/>
            <a:r>
              <a:rPr sz="1400" b="1" i="0">
                <a:solidFill>
                  <a:srgbClr val="FFFFFF"/>
                </a:solidFill>
                <a:latin typeface="Public Sans"/>
              </a:rPr>
              <a:t>Google</a:t>
            </a:r>
          </a:p>
        </p:txBody>
      </p:sp>
      <p:sp>
        <p:nvSpPr>
          <p:cNvPr id="9" name="Header"/>
          <p:cNvSpPr/>
          <p:nvPr/>
        </p:nvSpPr>
        <p:spPr>
          <a:xfrm>
            <a:off x="5385816" y="1920240"/>
            <a:ext cx="2514600" cy="457200"/>
          </a:xfrm>
          <a:prstGeom prst="rect">
            <a:avLst/>
          </a:prstGeom>
          <a:solidFill>
            <a:srgbClr val="1F2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32120" y="1920240"/>
            <a:ext cx="2240280" cy="457200"/>
          </a:xfrm>
          <a:prstGeom prst="rect">
            <a:avLst/>
          </a:prstGeom>
          <a:noFill/>
        </p:spPr>
        <p:txBody>
          <a:bodyPr wrap="square" lIns="0" tIns="0" rIns="0" bIns="0" anchor="ctr">
            <a:spAutoFit/>
          </a:bodyPr>
          <a:lstStyle/>
          <a:p>
            <a:pPr algn="l"/>
            <a:r>
              <a:rPr sz="1400" b="1" i="0">
                <a:solidFill>
                  <a:srgbClr val="FFFFFF"/>
                </a:solidFill>
                <a:latin typeface="Public Sans"/>
              </a:rPr>
              <a:t>ChatGPT / Claude</a:t>
            </a:r>
          </a:p>
        </p:txBody>
      </p:sp>
      <p:sp>
        <p:nvSpPr>
          <p:cNvPr id="11" name="Header"/>
          <p:cNvSpPr/>
          <p:nvPr/>
        </p:nvSpPr>
        <p:spPr>
          <a:xfrm>
            <a:off x="7900416" y="1920240"/>
            <a:ext cx="3474720" cy="457200"/>
          </a:xfrm>
          <a:prstGeom prst="rect">
            <a:avLst/>
          </a:prstGeom>
          <a:solidFill>
            <a:srgbClr val="C24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0" y="1920240"/>
            <a:ext cx="3200400" cy="457200"/>
          </a:xfrm>
          <a:prstGeom prst="rect">
            <a:avLst/>
          </a:prstGeom>
          <a:noFill/>
        </p:spPr>
        <p:txBody>
          <a:bodyPr wrap="square" lIns="0" tIns="0" rIns="0" bIns="0" anchor="ctr">
            <a:spAutoFit/>
          </a:bodyPr>
          <a:lstStyle/>
          <a:p>
            <a:pPr algn="l"/>
            <a:r>
              <a:rPr sz="1400" b="1" i="0">
                <a:solidFill>
                  <a:srgbClr val="FFFFFF"/>
                </a:solidFill>
                <a:latin typeface="Public Sans"/>
              </a:rPr>
              <a:t>COMPASS</a:t>
            </a:r>
          </a:p>
        </p:txBody>
      </p:sp>
      <p:sp>
        <p:nvSpPr>
          <p:cNvPr id="13" name="Cell"/>
          <p:cNvSpPr/>
          <p:nvPr/>
        </p:nvSpPr>
        <p:spPr>
          <a:xfrm>
            <a:off x="813816" y="2377440"/>
            <a:ext cx="233172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2377440"/>
            <a:ext cx="2057400" cy="493776"/>
          </a:xfrm>
          <a:prstGeom prst="rect">
            <a:avLst/>
          </a:prstGeom>
          <a:noFill/>
        </p:spPr>
        <p:txBody>
          <a:bodyPr wrap="square" lIns="0" tIns="0" rIns="0" bIns="0" anchor="ctr">
            <a:spAutoFit/>
          </a:bodyPr>
          <a:lstStyle/>
          <a:p>
            <a:pPr algn="l"/>
            <a:r>
              <a:rPr sz="1300" b="1" i="0">
                <a:solidFill>
                  <a:srgbClr val="1F2329"/>
                </a:solidFill>
                <a:latin typeface="Public Sans"/>
              </a:rPr>
              <a:t>Knows what GHUS has</a:t>
            </a:r>
          </a:p>
        </p:txBody>
      </p:sp>
      <p:sp>
        <p:nvSpPr>
          <p:cNvPr id="15" name="Cell"/>
          <p:cNvSpPr/>
          <p:nvPr/>
        </p:nvSpPr>
        <p:spPr>
          <a:xfrm>
            <a:off x="3145536" y="2377440"/>
            <a:ext cx="224028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0" y="2377440"/>
            <a:ext cx="1965960" cy="493776"/>
          </a:xfrm>
          <a:prstGeom prst="rect">
            <a:avLst/>
          </a:prstGeom>
          <a:noFill/>
        </p:spPr>
        <p:txBody>
          <a:bodyPr wrap="square" lIns="0" tIns="0" rIns="0" bIns="0" anchor="ctr">
            <a:spAutoFit/>
          </a:bodyPr>
          <a:lstStyle/>
          <a:p>
            <a:pPr algn="l"/>
            <a:r>
              <a:rPr sz="1300" b="0" i="0">
                <a:solidFill>
                  <a:srgbClr val="4A4F57"/>
                </a:solidFill>
                <a:latin typeface="Public Sans"/>
              </a:rPr>
              <a:t>No</a:t>
            </a:r>
          </a:p>
        </p:txBody>
      </p:sp>
      <p:sp>
        <p:nvSpPr>
          <p:cNvPr id="17" name="Cell"/>
          <p:cNvSpPr/>
          <p:nvPr/>
        </p:nvSpPr>
        <p:spPr>
          <a:xfrm>
            <a:off x="5385816" y="2377440"/>
            <a:ext cx="251460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32120" y="2377440"/>
            <a:ext cx="2240280" cy="493776"/>
          </a:xfrm>
          <a:prstGeom prst="rect">
            <a:avLst/>
          </a:prstGeom>
          <a:noFill/>
        </p:spPr>
        <p:txBody>
          <a:bodyPr wrap="square" lIns="0" tIns="0" rIns="0" bIns="0" anchor="ctr">
            <a:spAutoFit/>
          </a:bodyPr>
          <a:lstStyle/>
          <a:p>
            <a:pPr algn="l"/>
            <a:r>
              <a:rPr sz="1300" b="0" i="0">
                <a:solidFill>
                  <a:srgbClr val="4A4F57"/>
                </a:solidFill>
                <a:latin typeface="Public Sans"/>
              </a:rPr>
              <a:t>No</a:t>
            </a:r>
          </a:p>
        </p:txBody>
      </p:sp>
      <p:sp>
        <p:nvSpPr>
          <p:cNvPr id="19" name="Cell"/>
          <p:cNvSpPr/>
          <p:nvPr/>
        </p:nvSpPr>
        <p:spPr>
          <a:xfrm>
            <a:off x="7900416" y="2377440"/>
            <a:ext cx="3474720" cy="493776"/>
          </a:xfrm>
          <a:prstGeom prst="rect">
            <a:avLst/>
          </a:prstGeom>
          <a:solidFill>
            <a:srgbClr val="FDF3EE"/>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0" y="2377440"/>
            <a:ext cx="3200400" cy="493776"/>
          </a:xfrm>
          <a:prstGeom prst="rect">
            <a:avLst/>
          </a:prstGeom>
          <a:noFill/>
        </p:spPr>
        <p:txBody>
          <a:bodyPr wrap="square" lIns="0" tIns="0" rIns="0" bIns="0" anchor="ctr">
            <a:spAutoFit/>
          </a:bodyPr>
          <a:lstStyle/>
          <a:p>
            <a:pPr algn="l"/>
            <a:r>
              <a:rPr sz="1300" b="1" i="0">
                <a:solidFill>
                  <a:srgbClr val="1F2329"/>
                </a:solidFill>
                <a:latin typeface="Public Sans"/>
              </a:rPr>
              <a:t>Yes: checks the directory, flags what we hold</a:t>
            </a:r>
          </a:p>
        </p:txBody>
      </p:sp>
      <p:sp>
        <p:nvSpPr>
          <p:cNvPr id="21" name="Cell"/>
          <p:cNvSpPr/>
          <p:nvPr/>
        </p:nvSpPr>
        <p:spPr>
          <a:xfrm>
            <a:off x="813816" y="2871216"/>
            <a:ext cx="2331720" cy="493776"/>
          </a:xfrm>
          <a:prstGeom prst="rect">
            <a:avLst/>
          </a:prstGeom>
          <a:solidFill>
            <a:srgbClr val="F5F2ED"/>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2871216"/>
            <a:ext cx="2057400" cy="493776"/>
          </a:xfrm>
          <a:prstGeom prst="rect">
            <a:avLst/>
          </a:prstGeom>
          <a:noFill/>
        </p:spPr>
        <p:txBody>
          <a:bodyPr wrap="square" lIns="0" tIns="0" rIns="0" bIns="0" anchor="ctr">
            <a:spAutoFit/>
          </a:bodyPr>
          <a:lstStyle/>
          <a:p>
            <a:pPr algn="l"/>
            <a:r>
              <a:rPr sz="1300" b="1" i="0">
                <a:solidFill>
                  <a:srgbClr val="1F2329"/>
                </a:solidFill>
                <a:latin typeface="Public Sans"/>
              </a:rPr>
              <a:t>Keeps the results</a:t>
            </a:r>
          </a:p>
        </p:txBody>
      </p:sp>
      <p:sp>
        <p:nvSpPr>
          <p:cNvPr id="23" name="Cell"/>
          <p:cNvSpPr/>
          <p:nvPr/>
        </p:nvSpPr>
        <p:spPr>
          <a:xfrm>
            <a:off x="3145536" y="2871216"/>
            <a:ext cx="2240280" cy="493776"/>
          </a:xfrm>
          <a:prstGeom prst="rect">
            <a:avLst/>
          </a:prstGeom>
          <a:solidFill>
            <a:srgbClr val="F5F2ED"/>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91840" y="2871216"/>
            <a:ext cx="1965960" cy="493776"/>
          </a:xfrm>
          <a:prstGeom prst="rect">
            <a:avLst/>
          </a:prstGeom>
          <a:noFill/>
        </p:spPr>
        <p:txBody>
          <a:bodyPr wrap="square" lIns="0" tIns="0" rIns="0" bIns="0" anchor="ctr">
            <a:spAutoFit/>
          </a:bodyPr>
          <a:lstStyle/>
          <a:p>
            <a:pPr algn="l"/>
            <a:r>
              <a:rPr sz="1300" b="0" i="0">
                <a:solidFill>
                  <a:srgbClr val="4A4F57"/>
                </a:solidFill>
                <a:latin typeface="Public Sans"/>
              </a:rPr>
              <a:t>Links to collect by hand</a:t>
            </a:r>
          </a:p>
        </p:txBody>
      </p:sp>
      <p:sp>
        <p:nvSpPr>
          <p:cNvPr id="25" name="Cell"/>
          <p:cNvSpPr/>
          <p:nvPr/>
        </p:nvSpPr>
        <p:spPr>
          <a:xfrm>
            <a:off x="5385816" y="2871216"/>
            <a:ext cx="2514600" cy="493776"/>
          </a:xfrm>
          <a:prstGeom prst="rect">
            <a:avLst/>
          </a:prstGeom>
          <a:solidFill>
            <a:srgbClr val="F5F2ED"/>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32120" y="2871216"/>
            <a:ext cx="2240280" cy="493776"/>
          </a:xfrm>
          <a:prstGeom prst="rect">
            <a:avLst/>
          </a:prstGeom>
          <a:noFill/>
        </p:spPr>
        <p:txBody>
          <a:bodyPr wrap="square" lIns="0" tIns="0" rIns="0" bIns="0" anchor="ctr">
            <a:spAutoFit/>
          </a:bodyPr>
          <a:lstStyle/>
          <a:p>
            <a:pPr algn="l"/>
            <a:r>
              <a:rPr sz="1300" b="0" i="0">
                <a:solidFill>
                  <a:srgbClr val="4A4F57"/>
                </a:solidFill>
                <a:latin typeface="Public Sans"/>
              </a:rPr>
              <a:t>In one person’s chat</a:t>
            </a:r>
          </a:p>
        </p:txBody>
      </p:sp>
      <p:sp>
        <p:nvSpPr>
          <p:cNvPr id="27" name="Cell"/>
          <p:cNvSpPr/>
          <p:nvPr/>
        </p:nvSpPr>
        <p:spPr>
          <a:xfrm>
            <a:off x="7900416" y="2871216"/>
            <a:ext cx="3474720" cy="493776"/>
          </a:xfrm>
          <a:prstGeom prst="rect">
            <a:avLst/>
          </a:prstGeom>
          <a:solidFill>
            <a:srgbClr val="FDF3EE"/>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0" y="2871216"/>
            <a:ext cx="3200400" cy="493776"/>
          </a:xfrm>
          <a:prstGeom prst="rect">
            <a:avLst/>
          </a:prstGeom>
          <a:noFill/>
        </p:spPr>
        <p:txBody>
          <a:bodyPr wrap="square" lIns="0" tIns="0" rIns="0" bIns="0" anchor="ctr">
            <a:spAutoFit/>
          </a:bodyPr>
          <a:lstStyle/>
          <a:p>
            <a:pPr algn="l"/>
            <a:r>
              <a:rPr sz="1300" b="1" i="0">
                <a:solidFill>
                  <a:srgbClr val="1F2329"/>
                </a:solidFill>
                <a:latin typeface="Public Sans"/>
              </a:rPr>
              <a:t>In a directory the whole team shares</a:t>
            </a:r>
          </a:p>
        </p:txBody>
      </p:sp>
      <p:sp>
        <p:nvSpPr>
          <p:cNvPr id="29" name="Cell"/>
          <p:cNvSpPr/>
          <p:nvPr/>
        </p:nvSpPr>
        <p:spPr>
          <a:xfrm>
            <a:off x="813816" y="3364992"/>
            <a:ext cx="233172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0120" y="3364992"/>
            <a:ext cx="2057400" cy="493776"/>
          </a:xfrm>
          <a:prstGeom prst="rect">
            <a:avLst/>
          </a:prstGeom>
          <a:noFill/>
        </p:spPr>
        <p:txBody>
          <a:bodyPr wrap="square" lIns="0" tIns="0" rIns="0" bIns="0" anchor="ctr">
            <a:spAutoFit/>
          </a:bodyPr>
          <a:lstStyle/>
          <a:p>
            <a:pPr algn="l"/>
            <a:r>
              <a:rPr sz="1300" b="1" i="0">
                <a:solidFill>
                  <a:srgbClr val="1F2329"/>
                </a:solidFill>
                <a:latin typeface="Public Sans"/>
              </a:rPr>
              <a:t>Who decides</a:t>
            </a:r>
          </a:p>
        </p:txBody>
      </p:sp>
      <p:sp>
        <p:nvSpPr>
          <p:cNvPr id="31" name="Cell"/>
          <p:cNvSpPr/>
          <p:nvPr/>
        </p:nvSpPr>
        <p:spPr>
          <a:xfrm>
            <a:off x="3145536" y="3364992"/>
            <a:ext cx="224028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91840" y="3364992"/>
            <a:ext cx="1965960" cy="493776"/>
          </a:xfrm>
          <a:prstGeom prst="rect">
            <a:avLst/>
          </a:prstGeom>
          <a:noFill/>
        </p:spPr>
        <p:txBody>
          <a:bodyPr wrap="square" lIns="0" tIns="0" rIns="0" bIns="0" anchor="ctr">
            <a:spAutoFit/>
          </a:bodyPr>
          <a:lstStyle/>
          <a:p>
            <a:pPr algn="l"/>
            <a:r>
              <a:rPr sz="1300" b="0" i="0">
                <a:solidFill>
                  <a:srgbClr val="4A4F57"/>
                </a:solidFill>
                <a:latin typeface="Public Sans"/>
              </a:rPr>
              <a:t>You, alone</a:t>
            </a:r>
          </a:p>
        </p:txBody>
      </p:sp>
      <p:sp>
        <p:nvSpPr>
          <p:cNvPr id="33" name="Cell"/>
          <p:cNvSpPr/>
          <p:nvPr/>
        </p:nvSpPr>
        <p:spPr>
          <a:xfrm>
            <a:off x="5385816" y="3364992"/>
            <a:ext cx="251460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32120" y="3364992"/>
            <a:ext cx="2240280" cy="493776"/>
          </a:xfrm>
          <a:prstGeom prst="rect">
            <a:avLst/>
          </a:prstGeom>
          <a:noFill/>
        </p:spPr>
        <p:txBody>
          <a:bodyPr wrap="square" lIns="0" tIns="0" rIns="0" bIns="0" anchor="ctr">
            <a:spAutoFit/>
          </a:bodyPr>
          <a:lstStyle/>
          <a:p>
            <a:pPr algn="l"/>
            <a:r>
              <a:rPr sz="1300" b="0" i="0">
                <a:solidFill>
                  <a:srgbClr val="4A4F57"/>
                </a:solidFill>
                <a:latin typeface="Public Sans"/>
              </a:rPr>
              <a:t>The model’s answer</a:t>
            </a:r>
          </a:p>
        </p:txBody>
      </p:sp>
      <p:sp>
        <p:nvSpPr>
          <p:cNvPr id="35" name="Cell"/>
          <p:cNvSpPr/>
          <p:nvPr/>
        </p:nvSpPr>
        <p:spPr>
          <a:xfrm>
            <a:off x="7900416" y="3364992"/>
            <a:ext cx="3474720" cy="493776"/>
          </a:xfrm>
          <a:prstGeom prst="rect">
            <a:avLst/>
          </a:prstGeom>
          <a:solidFill>
            <a:srgbClr val="FDF3EE"/>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0" y="3364992"/>
            <a:ext cx="3200400" cy="493776"/>
          </a:xfrm>
          <a:prstGeom prst="rect">
            <a:avLst/>
          </a:prstGeom>
          <a:noFill/>
        </p:spPr>
        <p:txBody>
          <a:bodyPr wrap="square" lIns="0" tIns="0" rIns="0" bIns="0" anchor="ctr">
            <a:spAutoFit/>
          </a:bodyPr>
          <a:lstStyle/>
          <a:p>
            <a:pPr algn="l"/>
            <a:r>
              <a:rPr sz="1300" b="1" i="0">
                <a:solidFill>
                  <a:srgbClr val="1F2329"/>
                </a:solidFill>
                <a:latin typeface="Public Sans"/>
              </a:rPr>
              <a:t>A person verifies every record</a:t>
            </a:r>
          </a:p>
        </p:txBody>
      </p:sp>
      <p:sp>
        <p:nvSpPr>
          <p:cNvPr id="37" name="Cell"/>
          <p:cNvSpPr/>
          <p:nvPr/>
        </p:nvSpPr>
        <p:spPr>
          <a:xfrm>
            <a:off x="813816" y="3858768"/>
            <a:ext cx="2331720" cy="493776"/>
          </a:xfrm>
          <a:prstGeom prst="rect">
            <a:avLst/>
          </a:prstGeom>
          <a:solidFill>
            <a:srgbClr val="F5F2ED"/>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0120" y="3858768"/>
            <a:ext cx="2057400" cy="493776"/>
          </a:xfrm>
          <a:prstGeom prst="rect">
            <a:avLst/>
          </a:prstGeom>
          <a:noFill/>
        </p:spPr>
        <p:txBody>
          <a:bodyPr wrap="square" lIns="0" tIns="0" rIns="0" bIns="0" anchor="ctr">
            <a:spAutoFit/>
          </a:bodyPr>
          <a:lstStyle/>
          <a:p>
            <a:pPr algn="l"/>
            <a:r>
              <a:rPr sz="1300" b="1" i="0">
                <a:solidFill>
                  <a:srgbClr val="1F2329"/>
                </a:solidFill>
                <a:latin typeface="Public Sans"/>
              </a:rPr>
              <a:t>Same structure</a:t>
            </a:r>
          </a:p>
        </p:txBody>
      </p:sp>
      <p:sp>
        <p:nvSpPr>
          <p:cNvPr id="39" name="Cell"/>
          <p:cNvSpPr/>
          <p:nvPr/>
        </p:nvSpPr>
        <p:spPr>
          <a:xfrm>
            <a:off x="3145536" y="3858768"/>
            <a:ext cx="2240280" cy="493776"/>
          </a:xfrm>
          <a:prstGeom prst="rect">
            <a:avLst/>
          </a:prstGeom>
          <a:solidFill>
            <a:srgbClr val="F5F2ED"/>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91840" y="3858768"/>
            <a:ext cx="1965960" cy="493776"/>
          </a:xfrm>
          <a:prstGeom prst="rect">
            <a:avLst/>
          </a:prstGeom>
          <a:noFill/>
        </p:spPr>
        <p:txBody>
          <a:bodyPr wrap="square" lIns="0" tIns="0" rIns="0" bIns="0" anchor="ctr">
            <a:spAutoFit/>
          </a:bodyPr>
          <a:lstStyle/>
          <a:p>
            <a:pPr algn="l"/>
            <a:r>
              <a:rPr sz="1300" b="0" i="0">
                <a:solidFill>
                  <a:srgbClr val="4A4F57"/>
                </a:solidFill>
                <a:latin typeface="Public Sans"/>
              </a:rPr>
              <a:t>No</a:t>
            </a:r>
          </a:p>
        </p:txBody>
      </p:sp>
      <p:sp>
        <p:nvSpPr>
          <p:cNvPr id="41" name="Cell"/>
          <p:cNvSpPr/>
          <p:nvPr/>
        </p:nvSpPr>
        <p:spPr>
          <a:xfrm>
            <a:off x="5385816" y="3858768"/>
            <a:ext cx="2514600" cy="493776"/>
          </a:xfrm>
          <a:prstGeom prst="rect">
            <a:avLst/>
          </a:prstGeom>
          <a:solidFill>
            <a:srgbClr val="F5F2ED"/>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532120" y="3858768"/>
            <a:ext cx="2240280" cy="493776"/>
          </a:xfrm>
          <a:prstGeom prst="rect">
            <a:avLst/>
          </a:prstGeom>
          <a:noFill/>
        </p:spPr>
        <p:txBody>
          <a:bodyPr wrap="square" lIns="0" tIns="0" rIns="0" bIns="0" anchor="ctr">
            <a:spAutoFit/>
          </a:bodyPr>
          <a:lstStyle/>
          <a:p>
            <a:pPr algn="l"/>
            <a:r>
              <a:rPr sz="1300" b="0" i="0">
                <a:solidFill>
                  <a:srgbClr val="4A4F57"/>
                </a:solidFill>
                <a:latin typeface="Public Sans"/>
              </a:rPr>
              <a:t>Changes each answer</a:t>
            </a:r>
          </a:p>
        </p:txBody>
      </p:sp>
      <p:sp>
        <p:nvSpPr>
          <p:cNvPr id="43" name="Cell"/>
          <p:cNvSpPr/>
          <p:nvPr/>
        </p:nvSpPr>
        <p:spPr>
          <a:xfrm>
            <a:off x="7900416" y="3858768"/>
            <a:ext cx="3474720" cy="493776"/>
          </a:xfrm>
          <a:prstGeom prst="rect">
            <a:avLst/>
          </a:prstGeom>
          <a:solidFill>
            <a:srgbClr val="FDF3EE"/>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858768"/>
            <a:ext cx="3200400" cy="493776"/>
          </a:xfrm>
          <a:prstGeom prst="rect">
            <a:avLst/>
          </a:prstGeom>
          <a:noFill/>
        </p:spPr>
        <p:txBody>
          <a:bodyPr wrap="square" lIns="0" tIns="0" rIns="0" bIns="0" anchor="ctr">
            <a:spAutoFit/>
          </a:bodyPr>
          <a:lstStyle/>
          <a:p>
            <a:pPr algn="l"/>
            <a:r>
              <a:rPr sz="1300" b="1" i="0">
                <a:solidFill>
                  <a:srgbClr val="1F2329"/>
                </a:solidFill>
                <a:latin typeface="Public Sans"/>
              </a:rPr>
              <a:t>Same fields, sectors and types</a:t>
            </a:r>
          </a:p>
        </p:txBody>
      </p:sp>
      <p:sp>
        <p:nvSpPr>
          <p:cNvPr id="45" name="Cell"/>
          <p:cNvSpPr/>
          <p:nvPr/>
        </p:nvSpPr>
        <p:spPr>
          <a:xfrm>
            <a:off x="813816" y="4352544"/>
            <a:ext cx="233172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60120" y="4352544"/>
            <a:ext cx="2057400" cy="493776"/>
          </a:xfrm>
          <a:prstGeom prst="rect">
            <a:avLst/>
          </a:prstGeom>
          <a:noFill/>
        </p:spPr>
        <p:txBody>
          <a:bodyPr wrap="square" lIns="0" tIns="0" rIns="0" bIns="0" anchor="ctr">
            <a:spAutoFit/>
          </a:bodyPr>
          <a:lstStyle/>
          <a:p>
            <a:pPr algn="l"/>
            <a:r>
              <a:rPr sz="1300" b="1" i="0">
                <a:solidFill>
                  <a:srgbClr val="1F2329"/>
                </a:solidFill>
                <a:latin typeface="Public Sans"/>
              </a:rPr>
              <a:t>Missing information</a:t>
            </a:r>
          </a:p>
        </p:txBody>
      </p:sp>
      <p:sp>
        <p:nvSpPr>
          <p:cNvPr id="47" name="Cell"/>
          <p:cNvSpPr/>
          <p:nvPr/>
        </p:nvSpPr>
        <p:spPr>
          <a:xfrm>
            <a:off x="3145536" y="4352544"/>
            <a:ext cx="224028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91840" y="4352544"/>
            <a:ext cx="1965960" cy="493776"/>
          </a:xfrm>
          <a:prstGeom prst="rect">
            <a:avLst/>
          </a:prstGeom>
          <a:noFill/>
        </p:spPr>
        <p:txBody>
          <a:bodyPr wrap="square" lIns="0" tIns="0" rIns="0" bIns="0" anchor="ctr">
            <a:spAutoFit/>
          </a:bodyPr>
          <a:lstStyle/>
          <a:p>
            <a:pPr algn="l"/>
            <a:r>
              <a:rPr sz="1300" b="0" i="0">
                <a:solidFill>
                  <a:srgbClr val="4A4F57"/>
                </a:solidFill>
                <a:latin typeface="Public Sans"/>
              </a:rPr>
              <a:t>Not visible</a:t>
            </a:r>
          </a:p>
        </p:txBody>
      </p:sp>
      <p:sp>
        <p:nvSpPr>
          <p:cNvPr id="49" name="Cell"/>
          <p:cNvSpPr/>
          <p:nvPr/>
        </p:nvSpPr>
        <p:spPr>
          <a:xfrm>
            <a:off x="5385816" y="4352544"/>
            <a:ext cx="2514600" cy="493776"/>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532120" y="4352544"/>
            <a:ext cx="2240280" cy="493776"/>
          </a:xfrm>
          <a:prstGeom prst="rect">
            <a:avLst/>
          </a:prstGeom>
          <a:noFill/>
        </p:spPr>
        <p:txBody>
          <a:bodyPr wrap="square" lIns="0" tIns="0" rIns="0" bIns="0" anchor="ctr">
            <a:spAutoFit/>
          </a:bodyPr>
          <a:lstStyle/>
          <a:p>
            <a:pPr algn="l"/>
            <a:r>
              <a:rPr sz="1300" b="0" i="0">
                <a:solidFill>
                  <a:srgbClr val="4A4F57"/>
                </a:solidFill>
                <a:latin typeface="Public Sans"/>
              </a:rPr>
              <a:t>Not always marked</a:t>
            </a:r>
          </a:p>
        </p:txBody>
      </p:sp>
      <p:sp>
        <p:nvSpPr>
          <p:cNvPr id="51" name="Cell"/>
          <p:cNvSpPr/>
          <p:nvPr/>
        </p:nvSpPr>
        <p:spPr>
          <a:xfrm>
            <a:off x="7900416" y="4352544"/>
            <a:ext cx="3474720" cy="493776"/>
          </a:xfrm>
          <a:prstGeom prst="rect">
            <a:avLst/>
          </a:prstGeom>
          <a:solidFill>
            <a:srgbClr val="FDF3EE"/>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046720" y="4352544"/>
            <a:ext cx="3200400" cy="493776"/>
          </a:xfrm>
          <a:prstGeom prst="rect">
            <a:avLst/>
          </a:prstGeom>
          <a:noFill/>
        </p:spPr>
        <p:txBody>
          <a:bodyPr wrap="square" lIns="0" tIns="0" rIns="0" bIns="0" anchor="ctr">
            <a:spAutoFit/>
          </a:bodyPr>
          <a:lstStyle/>
          <a:p>
            <a:pPr algn="l"/>
            <a:r>
              <a:rPr sz="1300" b="1" i="0">
                <a:solidFill>
                  <a:srgbClr val="1F2329"/>
                </a:solidFill>
                <a:latin typeface="Public Sans"/>
              </a:rPr>
              <a:t>Shown as “Not found”, never guessed</a:t>
            </a:r>
          </a:p>
        </p:txBody>
      </p:sp>
      <p:sp>
        <p:nvSpPr>
          <p:cNvPr id="61" name="TextBox 60"/>
          <p:cNvSpPr txBox="1"/>
          <p:nvPr/>
        </p:nvSpPr>
        <p:spPr>
          <a:xfrm>
            <a:off x="813816" y="5577840"/>
            <a:ext cx="10515600" cy="292608"/>
          </a:xfrm>
          <a:prstGeom prst="rect">
            <a:avLst/>
          </a:prstGeom>
          <a:noFill/>
        </p:spPr>
        <p:txBody>
          <a:bodyPr wrap="square" lIns="0" tIns="0" rIns="0" bIns="0" anchor="t">
            <a:spAutoFit/>
          </a:bodyPr>
          <a:lstStyle/>
          <a:p>
            <a:pPr algn="l"/>
            <a:r>
              <a:rPr sz="1500" b="0" i="0">
                <a:solidFill>
                  <a:srgbClr val="4A4F57"/>
                </a:solidFill>
                <a:latin typeface="Public Sans"/>
              </a:rPr>
              <a:t>Google finds pages. A chatbot gives answers. </a:t>
            </a:r>
            <a:r>
              <a:rPr sz="1500" b="1" i="0">
                <a:solidFill>
                  <a:srgbClr val="C2481C"/>
                </a:solidFill>
                <a:latin typeface="Public Sans"/>
              </a:rPr>
              <a:t>COMPASS builds and keeps a verified directory.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232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152144"/>
            <a:ext cx="10881360" cy="548640"/>
          </a:xfrm>
        </p:spPr>
        <p:txBody>
          <a:bodyPr/>
          <a:lstStyle/>
          <a:p>
            <a:r>
              <a:rPr sz="3000" b="1">
                <a:solidFill>
                  <a:srgbClr val="F5F2ED"/>
                </a:solidFill>
                <a:latin typeface="Libre Baskerville"/>
              </a:rPr>
              <a:t>Minutes per map, cents per result, every result sourced</a:t>
            </a:r>
          </a:p>
        </p:txBody>
      </p:sp>
      <p:sp>
        <p:nvSpPr>
          <p:cNvPr id="3" name="Eyebrow"/>
          <p:cNvSpPr txBox="1"/>
          <p:nvPr/>
        </p:nvSpPr>
        <p:spPr>
          <a:xfrm>
            <a:off x="813816" y="813816"/>
            <a:ext cx="10881360" cy="237744"/>
          </a:xfrm>
          <a:prstGeom prst="rect">
            <a:avLst/>
          </a:prstGeom>
          <a:noFill/>
        </p:spPr>
        <p:txBody>
          <a:bodyPr wrap="square" lIns="0" tIns="0" rIns="0" bIns="0" anchor="t">
            <a:spAutoFit/>
          </a:bodyPr>
          <a:lstStyle/>
          <a:p>
            <a:pPr algn="l"/>
            <a:r>
              <a:rPr sz="1200" b="1" i="0">
                <a:solidFill>
                  <a:srgbClr val="E8956F"/>
                </a:solidFill>
                <a:latin typeface="Public Sans"/>
              </a:rPr>
              <a:t>IN NUMBERS</a:t>
            </a:r>
          </a:p>
        </p:txBody>
      </p:sp>
      <p:sp>
        <p:nvSpPr>
          <p:cNvPr id="4" name="Footer"/>
          <p:cNvSpPr txBox="1"/>
          <p:nvPr/>
        </p:nvSpPr>
        <p:spPr>
          <a:xfrm>
            <a:off x="813816" y="6236208"/>
            <a:ext cx="10515600" cy="237744"/>
          </a:xfrm>
          <a:prstGeom prst="rect">
            <a:avLst/>
          </a:prstGeom>
          <a:noFill/>
        </p:spPr>
        <p:txBody>
          <a:bodyPr wrap="square" lIns="0" tIns="0" rIns="0" bIns="0" anchor="t">
            <a:spAutoFit/>
          </a:bodyPr>
          <a:lstStyle/>
          <a:p>
            <a:pPr algn="l"/>
            <a:r>
              <a:rPr sz="1200" b="0" i="0">
                <a:solidFill>
                  <a:srgbClr val="9AA0A8"/>
                </a:solidFill>
                <a:latin typeface="Public Sans"/>
              </a:rPr>
              <a:t>COMPASS · Ecosystem Intelligence · 7 · 22 maps, 416 results, 9/13–10/30/2026</a:t>
            </a:r>
          </a:p>
        </p:txBody>
      </p:sp>
      <p:sp>
        <p:nvSpPr>
          <p:cNvPr id="5" name="KPI MAPS"/>
          <p:cNvSpPr/>
          <p:nvPr/>
        </p:nvSpPr>
        <p:spPr>
          <a:xfrm>
            <a:off x="813816" y="1965960"/>
            <a:ext cx="2450592" cy="2103120"/>
          </a:xfrm>
          <a:prstGeom prst="roundRect">
            <a:avLst>
              <a:gd name="adj" fmla="val 3478"/>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d tab"/>
          <p:cNvSpPr/>
          <p:nvPr/>
        </p:nvSpPr>
        <p:spPr>
          <a:xfrm>
            <a:off x="813816" y="1965960"/>
            <a:ext cx="2450592"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286000"/>
            <a:ext cx="1975104" cy="237744"/>
          </a:xfrm>
          <a:prstGeom prst="rect">
            <a:avLst/>
          </a:prstGeom>
          <a:noFill/>
        </p:spPr>
        <p:txBody>
          <a:bodyPr wrap="square" lIns="0" tIns="0" rIns="0" bIns="0" anchor="t">
            <a:spAutoFit/>
          </a:bodyPr>
          <a:lstStyle/>
          <a:p>
            <a:pPr algn="l"/>
            <a:r>
              <a:rPr sz="1300" b="1" i="0">
                <a:solidFill>
                  <a:srgbClr val="E8956F"/>
                </a:solidFill>
                <a:latin typeface="Public Sans"/>
              </a:rPr>
              <a:t>MAPS</a:t>
            </a:r>
          </a:p>
        </p:txBody>
      </p:sp>
      <p:sp>
        <p:nvSpPr>
          <p:cNvPr id="8" name="TextBox 7"/>
          <p:cNvSpPr txBox="1"/>
          <p:nvPr/>
        </p:nvSpPr>
        <p:spPr>
          <a:xfrm>
            <a:off x="1051560" y="2606040"/>
            <a:ext cx="1975104" cy="640080"/>
          </a:xfrm>
          <a:prstGeom prst="rect">
            <a:avLst/>
          </a:prstGeom>
          <a:noFill/>
        </p:spPr>
        <p:txBody>
          <a:bodyPr wrap="square" lIns="0" tIns="0" rIns="0" bIns="0" anchor="t">
            <a:spAutoFit/>
          </a:bodyPr>
          <a:lstStyle/>
          <a:p>
            <a:pPr algn="l"/>
            <a:r>
              <a:rPr sz="4000" b="1" i="0">
                <a:solidFill>
                  <a:srgbClr val="F5F2ED"/>
                </a:solidFill>
                <a:latin typeface="Libre Baskerville"/>
              </a:rPr>
              <a:t>22</a:t>
            </a:r>
          </a:p>
        </p:txBody>
      </p:sp>
      <p:sp>
        <p:nvSpPr>
          <p:cNvPr id="9" name="TextBox 8"/>
          <p:cNvSpPr txBox="1"/>
          <p:nvPr/>
        </p:nvSpPr>
        <p:spPr>
          <a:xfrm>
            <a:off x="1051560" y="3310128"/>
            <a:ext cx="1975104" cy="640080"/>
          </a:xfrm>
          <a:prstGeom prst="rect">
            <a:avLst/>
          </a:prstGeom>
          <a:noFill/>
        </p:spPr>
        <p:txBody>
          <a:bodyPr wrap="square" lIns="0" tIns="0" rIns="0" bIns="0" anchor="t">
            <a:spAutoFit/>
          </a:bodyPr>
          <a:lstStyle/>
          <a:p>
            <a:pPr algn="l"/>
            <a:r>
              <a:rPr sz="1300" b="0" i="0">
                <a:solidFill>
                  <a:srgbClr val="C9CCD1"/>
                </a:solidFill>
                <a:latin typeface="Public Sans"/>
              </a:rPr>
              <a:t>416 results: organizations, people and events</a:t>
            </a:r>
          </a:p>
        </p:txBody>
      </p:sp>
      <p:sp>
        <p:nvSpPr>
          <p:cNvPr id="10" name="KPI TIME"/>
          <p:cNvSpPr/>
          <p:nvPr/>
        </p:nvSpPr>
        <p:spPr>
          <a:xfrm>
            <a:off x="3493008" y="1965960"/>
            <a:ext cx="2450592" cy="2103120"/>
          </a:xfrm>
          <a:prstGeom prst="roundRect">
            <a:avLst>
              <a:gd name="adj" fmla="val 3478"/>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ard tab"/>
          <p:cNvSpPr/>
          <p:nvPr/>
        </p:nvSpPr>
        <p:spPr>
          <a:xfrm>
            <a:off x="3493008" y="1965960"/>
            <a:ext cx="2450592"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30752" y="2286000"/>
            <a:ext cx="1975104" cy="237744"/>
          </a:xfrm>
          <a:prstGeom prst="rect">
            <a:avLst/>
          </a:prstGeom>
          <a:noFill/>
        </p:spPr>
        <p:txBody>
          <a:bodyPr wrap="square" lIns="0" tIns="0" rIns="0" bIns="0" anchor="t">
            <a:spAutoFit/>
          </a:bodyPr>
          <a:lstStyle/>
          <a:p>
            <a:pPr algn="l"/>
            <a:r>
              <a:rPr sz="1300" b="1" i="0">
                <a:solidFill>
                  <a:srgbClr val="E8956F"/>
                </a:solidFill>
                <a:latin typeface="Public Sans"/>
              </a:rPr>
              <a:t>TIME</a:t>
            </a:r>
          </a:p>
        </p:txBody>
      </p:sp>
      <p:sp>
        <p:nvSpPr>
          <p:cNvPr id="13" name="TextBox 12"/>
          <p:cNvSpPr txBox="1"/>
          <p:nvPr/>
        </p:nvSpPr>
        <p:spPr>
          <a:xfrm>
            <a:off x="3730752" y="2606040"/>
            <a:ext cx="1975104" cy="640080"/>
          </a:xfrm>
          <a:prstGeom prst="rect">
            <a:avLst/>
          </a:prstGeom>
          <a:noFill/>
        </p:spPr>
        <p:txBody>
          <a:bodyPr wrap="square" lIns="0" tIns="0" rIns="0" bIns="0" anchor="t">
            <a:spAutoFit/>
          </a:bodyPr>
          <a:lstStyle/>
          <a:p>
            <a:pPr algn="l"/>
            <a:r>
              <a:rPr sz="4000" b="1" i="0">
                <a:solidFill>
                  <a:srgbClr val="F5F2ED"/>
                </a:solidFill>
                <a:latin typeface="Libre Baskerville"/>
              </a:rPr>
              <a:t>6 min</a:t>
            </a:r>
          </a:p>
        </p:txBody>
      </p:sp>
      <p:sp>
        <p:nvSpPr>
          <p:cNvPr id="14" name="TextBox 13"/>
          <p:cNvSpPr txBox="1"/>
          <p:nvPr/>
        </p:nvSpPr>
        <p:spPr>
          <a:xfrm>
            <a:off x="3730752" y="3310128"/>
            <a:ext cx="1975104" cy="640080"/>
          </a:xfrm>
          <a:prstGeom prst="rect">
            <a:avLst/>
          </a:prstGeom>
          <a:noFill/>
        </p:spPr>
        <p:txBody>
          <a:bodyPr wrap="square" lIns="0" tIns="0" rIns="0" bIns="0" anchor="t">
            <a:spAutoFit/>
          </a:bodyPr>
          <a:lstStyle/>
          <a:p>
            <a:pPr algn="l"/>
            <a:r>
              <a:rPr sz="1300" b="0" i="0">
                <a:solidFill>
                  <a:srgbClr val="C9CCD1"/>
                </a:solidFill>
                <a:latin typeface="Public Sans"/>
              </a:rPr>
              <a:t>median research per map</a:t>
            </a:r>
          </a:p>
        </p:txBody>
      </p:sp>
      <p:sp>
        <p:nvSpPr>
          <p:cNvPr id="15" name="KPI COST"/>
          <p:cNvSpPr/>
          <p:nvPr/>
        </p:nvSpPr>
        <p:spPr>
          <a:xfrm>
            <a:off x="6172200" y="1965960"/>
            <a:ext cx="2450592" cy="2103120"/>
          </a:xfrm>
          <a:prstGeom prst="roundRect">
            <a:avLst>
              <a:gd name="adj" fmla="val 3478"/>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ard tab"/>
          <p:cNvSpPr/>
          <p:nvPr/>
        </p:nvSpPr>
        <p:spPr>
          <a:xfrm>
            <a:off x="6172200" y="1965960"/>
            <a:ext cx="2450592"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9944" y="2286000"/>
            <a:ext cx="1975104" cy="237744"/>
          </a:xfrm>
          <a:prstGeom prst="rect">
            <a:avLst/>
          </a:prstGeom>
          <a:noFill/>
        </p:spPr>
        <p:txBody>
          <a:bodyPr wrap="square" lIns="0" tIns="0" rIns="0" bIns="0" anchor="t">
            <a:spAutoFit/>
          </a:bodyPr>
          <a:lstStyle/>
          <a:p>
            <a:pPr algn="l"/>
            <a:r>
              <a:rPr sz="1300" b="1" i="0">
                <a:solidFill>
                  <a:srgbClr val="E8956F"/>
                </a:solidFill>
                <a:latin typeface="Public Sans"/>
              </a:rPr>
              <a:t>COST</a:t>
            </a:r>
          </a:p>
        </p:txBody>
      </p:sp>
      <p:sp>
        <p:nvSpPr>
          <p:cNvPr id="18" name="TextBox 17"/>
          <p:cNvSpPr txBox="1"/>
          <p:nvPr/>
        </p:nvSpPr>
        <p:spPr>
          <a:xfrm>
            <a:off x="6409944" y="2606040"/>
            <a:ext cx="1975104" cy="640080"/>
          </a:xfrm>
          <a:prstGeom prst="rect">
            <a:avLst/>
          </a:prstGeom>
          <a:noFill/>
        </p:spPr>
        <p:txBody>
          <a:bodyPr wrap="square" lIns="0" tIns="0" rIns="0" bIns="0" anchor="t">
            <a:spAutoFit/>
          </a:bodyPr>
          <a:lstStyle/>
          <a:p>
            <a:pPr algn="l"/>
            <a:r>
              <a:rPr sz="4000" b="1" i="0" dirty="0">
                <a:solidFill>
                  <a:srgbClr val="F5F2ED"/>
                </a:solidFill>
                <a:latin typeface="Libre Baskerville"/>
              </a:rPr>
              <a:t>$0.</a:t>
            </a:r>
            <a:r>
              <a:rPr lang="en-US" sz="4000" b="1" i="0" dirty="0">
                <a:solidFill>
                  <a:srgbClr val="F5F2ED"/>
                </a:solidFill>
                <a:latin typeface="Libre Baskerville"/>
              </a:rPr>
              <a:t>4</a:t>
            </a:r>
            <a:r>
              <a:rPr sz="4000" b="1" i="0" dirty="0">
                <a:solidFill>
                  <a:srgbClr val="F5F2ED"/>
                </a:solidFill>
                <a:latin typeface="Libre Baskerville"/>
              </a:rPr>
              <a:t>7</a:t>
            </a:r>
          </a:p>
        </p:txBody>
      </p:sp>
      <p:sp>
        <p:nvSpPr>
          <p:cNvPr id="19" name="TextBox 18"/>
          <p:cNvSpPr txBox="1"/>
          <p:nvPr/>
        </p:nvSpPr>
        <p:spPr>
          <a:xfrm>
            <a:off x="6409944" y="3310128"/>
            <a:ext cx="1975104" cy="640080"/>
          </a:xfrm>
          <a:prstGeom prst="rect">
            <a:avLst/>
          </a:prstGeom>
          <a:noFill/>
        </p:spPr>
        <p:txBody>
          <a:bodyPr wrap="square" lIns="0" tIns="0" rIns="0" bIns="0" anchor="t">
            <a:spAutoFit/>
          </a:bodyPr>
          <a:lstStyle/>
          <a:p>
            <a:pPr algn="l"/>
            <a:r>
              <a:rPr sz="1300" b="0" i="0">
                <a:solidFill>
                  <a:srgbClr val="C9CCD1"/>
                </a:solidFill>
                <a:latin typeface="Public Sans"/>
              </a:rPr>
              <a:t>median per map, about $0.03 per result, never over $2</a:t>
            </a:r>
          </a:p>
        </p:txBody>
      </p:sp>
      <p:sp>
        <p:nvSpPr>
          <p:cNvPr id="20" name="KPI SOURCED"/>
          <p:cNvSpPr/>
          <p:nvPr/>
        </p:nvSpPr>
        <p:spPr>
          <a:xfrm>
            <a:off x="8851392" y="1965960"/>
            <a:ext cx="2450592" cy="2103120"/>
          </a:xfrm>
          <a:prstGeom prst="roundRect">
            <a:avLst>
              <a:gd name="adj" fmla="val 3478"/>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ard tab"/>
          <p:cNvSpPr/>
          <p:nvPr/>
        </p:nvSpPr>
        <p:spPr>
          <a:xfrm>
            <a:off x="8851392" y="1965960"/>
            <a:ext cx="2450592" cy="64008"/>
          </a:xfrm>
          <a:prstGeom prst="roundRect">
            <a:avLst>
              <a:gd name="adj" fmla="val 50000"/>
            </a:avLst>
          </a:prstGeom>
          <a:solidFill>
            <a:srgbClr val="E89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89136" y="2286000"/>
            <a:ext cx="1975104" cy="237744"/>
          </a:xfrm>
          <a:prstGeom prst="rect">
            <a:avLst/>
          </a:prstGeom>
          <a:noFill/>
        </p:spPr>
        <p:txBody>
          <a:bodyPr wrap="square" lIns="0" tIns="0" rIns="0" bIns="0" anchor="t">
            <a:spAutoFit/>
          </a:bodyPr>
          <a:lstStyle/>
          <a:p>
            <a:pPr algn="l"/>
            <a:r>
              <a:rPr sz="1300" b="1" i="0">
                <a:solidFill>
                  <a:srgbClr val="E8956F"/>
                </a:solidFill>
                <a:latin typeface="Public Sans"/>
              </a:rPr>
              <a:t>SOURCED</a:t>
            </a:r>
          </a:p>
        </p:txBody>
      </p:sp>
      <p:sp>
        <p:nvSpPr>
          <p:cNvPr id="23" name="TextBox 22"/>
          <p:cNvSpPr txBox="1"/>
          <p:nvPr/>
        </p:nvSpPr>
        <p:spPr>
          <a:xfrm>
            <a:off x="9089136" y="2606040"/>
            <a:ext cx="1975104" cy="640080"/>
          </a:xfrm>
          <a:prstGeom prst="rect">
            <a:avLst/>
          </a:prstGeom>
          <a:noFill/>
        </p:spPr>
        <p:txBody>
          <a:bodyPr wrap="square" lIns="0" tIns="0" rIns="0" bIns="0" anchor="t">
            <a:spAutoFit/>
          </a:bodyPr>
          <a:lstStyle/>
          <a:p>
            <a:pPr algn="l"/>
            <a:r>
              <a:rPr sz="4000" b="1" i="0">
                <a:solidFill>
                  <a:srgbClr val="F5F2ED"/>
                </a:solidFill>
                <a:latin typeface="Libre Baskerville"/>
              </a:rPr>
              <a:t>100%</a:t>
            </a:r>
          </a:p>
        </p:txBody>
      </p:sp>
      <p:sp>
        <p:nvSpPr>
          <p:cNvPr id="24" name="TextBox 23"/>
          <p:cNvSpPr txBox="1"/>
          <p:nvPr/>
        </p:nvSpPr>
        <p:spPr>
          <a:xfrm>
            <a:off x="9089136" y="3310128"/>
            <a:ext cx="1975104" cy="640080"/>
          </a:xfrm>
          <a:prstGeom prst="rect">
            <a:avLst/>
          </a:prstGeom>
          <a:noFill/>
        </p:spPr>
        <p:txBody>
          <a:bodyPr wrap="square" lIns="0" tIns="0" rIns="0" bIns="0" anchor="t">
            <a:spAutoFit/>
          </a:bodyPr>
          <a:lstStyle/>
          <a:p>
            <a:pPr algn="l"/>
            <a:r>
              <a:rPr sz="1300" b="0" i="0">
                <a:solidFill>
                  <a:srgbClr val="C9CCD1"/>
                </a:solidFill>
                <a:latin typeface="Public Sans"/>
              </a:rPr>
              <a:t>of results link to the pages behind them</a:t>
            </a:r>
          </a:p>
        </p:txBody>
      </p:sp>
      <p:sp>
        <p:nvSpPr>
          <p:cNvPr id="25" name="TextBox 24"/>
          <p:cNvSpPr txBox="1"/>
          <p:nvPr/>
        </p:nvSpPr>
        <p:spPr>
          <a:xfrm>
            <a:off x="813816" y="4434840"/>
            <a:ext cx="10515600" cy="237744"/>
          </a:xfrm>
          <a:prstGeom prst="rect">
            <a:avLst/>
          </a:prstGeom>
          <a:noFill/>
        </p:spPr>
        <p:txBody>
          <a:bodyPr wrap="square" lIns="0" tIns="0" rIns="0" bIns="0" anchor="t">
            <a:spAutoFit/>
          </a:bodyPr>
          <a:lstStyle/>
          <a:p>
            <a:pPr algn="l"/>
            <a:r>
              <a:rPr sz="1200" b="1" i="0">
                <a:solidFill>
                  <a:srgbClr val="E8956F"/>
                </a:solidFill>
                <a:latin typeface="Public Sans"/>
              </a:rPr>
              <a:t>NEXT</a:t>
            </a:r>
          </a:p>
        </p:txBody>
      </p:sp>
      <p:sp>
        <p:nvSpPr>
          <p:cNvPr id="26" name="Next"/>
          <p:cNvSpPr/>
          <p:nvPr/>
        </p:nvSpPr>
        <p:spPr>
          <a:xfrm>
            <a:off x="813816" y="4754880"/>
            <a:ext cx="3291840" cy="566928"/>
          </a:xfrm>
          <a:prstGeom prst="roundRect">
            <a:avLst>
              <a:gd name="adj" fmla="val 12903"/>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33271" y="4754880"/>
            <a:ext cx="2926080" cy="566928"/>
          </a:xfrm>
          <a:prstGeom prst="rect">
            <a:avLst/>
          </a:prstGeom>
          <a:noFill/>
        </p:spPr>
        <p:txBody>
          <a:bodyPr wrap="square" lIns="0" tIns="0" rIns="0" bIns="0" anchor="ctr">
            <a:spAutoFit/>
          </a:bodyPr>
          <a:lstStyle/>
          <a:p>
            <a:pPr algn="l"/>
            <a:r>
              <a:rPr sz="1400" b="1" i="0">
                <a:solidFill>
                  <a:srgbClr val="F5F2ED"/>
                </a:solidFill>
                <a:latin typeface="Public Sans"/>
              </a:rPr>
              <a:t>Logins: My Records and Owner</a:t>
            </a:r>
          </a:p>
        </p:txBody>
      </p:sp>
      <p:sp>
        <p:nvSpPr>
          <p:cNvPr id="28" name="Next"/>
          <p:cNvSpPr/>
          <p:nvPr/>
        </p:nvSpPr>
        <p:spPr>
          <a:xfrm>
            <a:off x="4334256" y="4754880"/>
            <a:ext cx="3291840" cy="566928"/>
          </a:xfrm>
          <a:prstGeom prst="roundRect">
            <a:avLst>
              <a:gd name="adj" fmla="val 12903"/>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53712" y="4754880"/>
            <a:ext cx="2926080" cy="566928"/>
          </a:xfrm>
          <a:prstGeom prst="rect">
            <a:avLst/>
          </a:prstGeom>
          <a:noFill/>
        </p:spPr>
        <p:txBody>
          <a:bodyPr wrap="square" lIns="0" tIns="0" rIns="0" bIns="0" anchor="ctr">
            <a:spAutoFit/>
          </a:bodyPr>
          <a:lstStyle/>
          <a:p>
            <a:pPr algn="l"/>
            <a:r>
              <a:rPr sz="1400" b="1" i="0">
                <a:solidFill>
                  <a:srgbClr val="F5F2ED"/>
                </a:solidFill>
                <a:latin typeface="Public Sans"/>
              </a:rPr>
              <a:t>Saving Directory edits</a:t>
            </a:r>
          </a:p>
        </p:txBody>
      </p:sp>
      <p:sp>
        <p:nvSpPr>
          <p:cNvPr id="30" name="Next"/>
          <p:cNvSpPr/>
          <p:nvPr/>
        </p:nvSpPr>
        <p:spPr>
          <a:xfrm>
            <a:off x="7854696" y="4754880"/>
            <a:ext cx="3291840" cy="566928"/>
          </a:xfrm>
          <a:prstGeom prst="roundRect">
            <a:avLst>
              <a:gd name="adj" fmla="val 12903"/>
            </a:avLst>
          </a:prstGeom>
          <a:solidFill>
            <a:srgbClr val="2A3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74152" y="4754880"/>
            <a:ext cx="2926080" cy="566928"/>
          </a:xfrm>
          <a:prstGeom prst="rect">
            <a:avLst/>
          </a:prstGeom>
          <a:noFill/>
        </p:spPr>
        <p:txBody>
          <a:bodyPr wrap="square" lIns="0" tIns="0" rIns="0" bIns="0" anchor="ctr">
            <a:spAutoFit/>
          </a:bodyPr>
          <a:lstStyle/>
          <a:p>
            <a:pPr algn="l"/>
            <a:r>
              <a:rPr sz="1400" b="1" i="0">
                <a:solidFill>
                  <a:srgbClr val="F5F2ED"/>
                </a:solidFill>
                <a:latin typeface="Public Sans"/>
              </a:rPr>
              <a:t>People in the directory</a:t>
            </a:r>
          </a:p>
        </p:txBody>
      </p:sp>
    </p:spTree>
  </p:cSld>
  <p:clrMapOvr>
    <a:masterClrMapping/>
  </p:clrMapOvr>
</p:sld>
</file>

<file path=ppt/theme/theme1.xml><?xml version="1.0" encoding="utf-8"?>
<a:theme xmlns:a="http://schemas.openxmlformats.org/drawingml/2006/main" name="GHUS Intelligence Platform">
  <a:themeElements>
    <a:clrScheme name="GHUS Intelligence Platform">
      <a:dk1>
        <a:srgbClr val="1F2329"/>
      </a:dk1>
      <a:lt1>
        <a:srgbClr val="F5F2ED"/>
      </a:lt1>
      <a:dk2>
        <a:srgbClr val="55575A"/>
      </a:dk2>
      <a:lt2>
        <a:srgbClr val="E0DDD9"/>
      </a:lt2>
      <a:accent1>
        <a:srgbClr val="C2481C"/>
      </a:accent1>
      <a:accent2>
        <a:srgbClr val="E8956F"/>
      </a:accent2>
      <a:accent3>
        <a:srgbClr val="E4B49F"/>
      </a:accent3>
      <a:accent4>
        <a:srgbClr val="EDCBBC"/>
      </a:accent4>
      <a:accent5>
        <a:srgbClr val="4A4F57"/>
      </a:accent5>
      <a:accent6>
        <a:srgbClr val="6B7079"/>
      </a:accent6>
      <a:hlink>
        <a:srgbClr val="0563C1"/>
      </a:hlink>
      <a:folHlink>
        <a:srgbClr val="954F72"/>
      </a:folHlink>
    </a:clrScheme>
    <a:fontScheme name="GHUS Intelligence Platform">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4ABC46-4E4D-4843-931D-3F18BD01628A}">
  <we:reference id="WA200010725" version="1.0.0.1" store="Omex" storeType="OMEX"/>
  <we:alternateReferences>
    <we:reference id="WA200010725" version="1.0.0.1" store="WA200010725" storeType="OMEX"/>
  </we:alternateReferences>
  <we:properties>
    <we:property name="claude.fileId" value="&quot;2d199c0c-709d-45ad-969b-c714bf21142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1320</TotalTime>
  <Words>1310</Words>
  <Application>Microsoft Macintosh PowerPoint</Application>
  <PresentationFormat>Widescreen</PresentationFormat>
  <Paragraphs>159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Libre Baskerville</vt:lpstr>
      <vt:lpstr>Public Sans</vt:lpstr>
      <vt:lpstr>GHUS Intelligence Platform</vt:lpstr>
      <vt:lpstr>COMPASS at a glance: seven pages, one team</vt:lpstr>
      <vt:lpstr>The agents behind COMPASS</vt:lpstr>
      <vt:lpstr>What do we already know?</vt:lpstr>
      <vt:lpstr>Who else should we know?</vt:lpstr>
      <vt:lpstr>What we keep</vt:lpstr>
      <vt:lpstr>Why not just Google or ChatGPT?</vt:lpstr>
      <vt:lpstr>Minutes per map, cents per result, every result sourced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GHUS Intelligence Platform</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Nouhaila EL HAIL</cp:lastModifiedBy>
  <cp:revision>4</cp:revision>
  <dcterms:created xsi:type="dcterms:W3CDTF">2026-10-26T15:19:38Z</dcterms:created>
  <dcterms:modified xsi:type="dcterms:W3CDTF">2026-10-30T12:59:56Z</dcterms:modified>
</cp:coreProperties>
</file>