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07e4e5d7d4955" /><Relationship Type="http://schemas.openxmlformats.org/officeDocument/2006/relationships/extended-properties" Target="/docProps/app.xml" Id="R45db23cd8d794522" /><Relationship Type="http://schemas.openxmlformats.org/officeDocument/2006/relationships/officeDocument" Target="/ppt/presentation.xml" Id="R78bcd10552ec4b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f553c868bf4474"/>
  </p:sldMasterIdLst>
  <p:notesMasterIdLst>
    <p:notesMasterId xmlns:r="http://schemas.openxmlformats.org/officeDocument/2006/relationships" r:id="Rff7279a4bc4c4a5f"/>
  </p:notesMasterIdLst>
  <p:sldIdLst>
    <p:sldId xmlns:r="http://schemas.openxmlformats.org/officeDocument/2006/relationships" id="256" r:id="R3926b40ce31549b5"/>
    <p:sldId xmlns:r="http://schemas.openxmlformats.org/officeDocument/2006/relationships" id="257" r:id="Rf95d7205333145e6"/>
    <p:sldId xmlns:r="http://schemas.openxmlformats.org/officeDocument/2006/relationships" id="258" r:id="R1d4f4f18e99b46ea"/>
    <p:sldId xmlns:r="http://schemas.openxmlformats.org/officeDocument/2006/relationships" id="259" r:id="R72ae095033954fc8"/>
    <p:sldId xmlns:r="http://schemas.openxmlformats.org/officeDocument/2006/relationships" id="260" r:id="R134db8c143364bd2"/>
    <p:sldId xmlns:r="http://schemas.openxmlformats.org/officeDocument/2006/relationships" id="261" r:id="Rdbcef95a546d40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dad6679d374bdc" /><Relationship Type="http://schemas.openxmlformats.org/officeDocument/2006/relationships/slideMaster" Target="/ppt/slideMasters/slideMaster1.xml" Id="Rcaf553c868bf4474" /><Relationship Type="http://schemas.openxmlformats.org/officeDocument/2006/relationships/notesMaster" Target="/ppt/notesMasters/notesMaster1.xml" Id="Rff7279a4bc4c4a5f" /><Relationship Type="http://schemas.openxmlformats.org/officeDocument/2006/relationships/presProps" Target="/ppt/presProps.xml" Id="R3de895e4306c4ae9" /><Relationship Type="http://schemas.openxmlformats.org/officeDocument/2006/relationships/tableStyles" Target="/ppt/tableStyles.xml" Id="R2a9cfaf69a3c4199" /><Relationship Type="http://schemas.openxmlformats.org/officeDocument/2006/relationships/slide" Target="/ppt/slides/slide1.xml" Id="R3926b40ce31549b5" /><Relationship Type="http://schemas.openxmlformats.org/officeDocument/2006/relationships/slide" Target="/ppt/slides/slide2.xml" Id="Rf95d7205333145e6" /><Relationship Type="http://schemas.openxmlformats.org/officeDocument/2006/relationships/slide" Target="/ppt/slides/slide3.xml" Id="R1d4f4f18e99b46ea" /><Relationship Type="http://schemas.openxmlformats.org/officeDocument/2006/relationships/slide" Target="/ppt/slides/slide4.xml" Id="R72ae095033954fc8" /><Relationship Type="http://schemas.openxmlformats.org/officeDocument/2006/relationships/slide" Target="/ppt/slides/slide5.xml" Id="R134db8c143364bd2" /><Relationship Type="http://schemas.openxmlformats.org/officeDocument/2006/relationships/slide" Target="/ppt/slides/slide6.xml" Id="Rdbcef95a546d40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716dae2ded44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fd9d4b748b490f" /><Relationship Type="http://schemas.openxmlformats.org/officeDocument/2006/relationships/notesMaster" Target="/ppt/notesMasters/notesMaster1.xml" Id="R71836b11791a4f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0c105c8c38408b" /><Relationship Type="http://schemas.openxmlformats.org/officeDocument/2006/relationships/notesMaster" Target="/ppt/notesMasters/notesMaster1.xml" Id="R5b37972b49ee4b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c5b60b87744d7e" /><Relationship Type="http://schemas.openxmlformats.org/officeDocument/2006/relationships/notesMaster" Target="/ppt/notesMasters/notesMaster1.xml" Id="R227f1b27530c4e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1175fe272d468f" /><Relationship Type="http://schemas.openxmlformats.org/officeDocument/2006/relationships/notesMaster" Target="/ppt/notesMasters/notesMaster1.xml" Id="Rd3ec1a63df224e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3a5b0af64146aa" /><Relationship Type="http://schemas.openxmlformats.org/officeDocument/2006/relationships/notesMaster" Target="/ppt/notesMasters/notesMaster1.xml" Id="R973c5f4e767942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8eb0d15db40a3" /><Relationship Type="http://schemas.openxmlformats.org/officeDocument/2006/relationships/notesMaster" Target="/ppt/notesMasters/notesMaster1.xml" Id="R7da74b99541749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discussion with Nouhaila and docs/PROJECT_CHANGE_HISTORY.md. Status as discussed in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discussion with Nouhaila and docs/PROJECT_CHANGE_HISTORY.md. Status as discussed in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Database schema.md, documented survey dated 2026-08-05. This slide distinguishes main actor columns from related tables. Existing relationships and fields are not necessarily populated for every actor. Refresh the live schema before treating this as a current database audit. The manager proposed category-specific fields. The user requested removal of the missing/development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user-approved proposed slide content. The information list is a proposed review design, not a claim that every listed field is currently available. Database insertion remains unfinished.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discussion with Nouhaila and docs/PROJECT_CHANGE_HISTORY.md. Status as discussed in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discussion with Nouhaila and docs/PROJECT_CHANGE_HISTORY.md. Status as discussed in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1bb9fada348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2016ceca04dd8" /><Relationship Type="http://schemas.openxmlformats.org/officeDocument/2006/relationships/slideLayout" Target="/ppt/slideLayouts/slideLayout1.xml" Id="R7249f6561a4d4f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49f6561a4d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b344db9934b78" /><Relationship Type="http://schemas.openxmlformats.org/officeDocument/2006/relationships/notesSlide" Target="/ppt/notesSlides/notesSlide1.xml" Id="Rd80798ccb57147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f2b1cdd02401c" /><Relationship Type="http://schemas.openxmlformats.org/officeDocument/2006/relationships/notesSlide" Target="/ppt/notesSlides/notesSlide2.xml" Id="Rdf13618304104c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c4934d7564d7f" /><Relationship Type="http://schemas.openxmlformats.org/officeDocument/2006/relationships/notesSlide" Target="/ppt/notesSlides/notesSlide3.xml" Id="Rb3e07feec6f440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3475e8aaa463e" /><Relationship Type="http://schemas.openxmlformats.org/officeDocument/2006/relationships/notesSlide" Target="/ppt/notesSlides/notesSlide4.xml" Id="Rd87d39def90f41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8439bed864ffe" /><Relationship Type="http://schemas.openxmlformats.org/officeDocument/2006/relationships/notesSlide" Target="/ppt/notesSlides/notesSlide5.xml" Id="Rfcfd2632e0fe45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e25890dee4e39" /><Relationship Type="http://schemas.openxmlformats.org/officeDocument/2006/relationships/notesSlide" Target="/ppt/notesSlides/notesSlide6.xml" Id="Rc1d1f38af85549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F2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7E4F7-EAD8-4AC1-A39F-B231BD7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UM6P GLOBAL HUBS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9BDFB-8172-4E6D-B90B-29BE3F68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71955-1831-4ABF-8E4D-96E3741A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EC6BF-ACAC-4B46-AD20-2CA429B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Progress and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D1CD4-B213-4685-9474-5617D63F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9D4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9D4CF"/>
                </a:solidFill>
                <a:latin typeface="Helvetica Neue"/>
                <a:ea typeface="Helvetica Neue"/>
                <a:cs typeface="Helvetica Neue"/>
              </a:rPr>
              <a:t>Management working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55F17-046C-41D6-9612-6C6F2934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progress since our last meeting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Agree on the outstanding architecture and review decisions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Confirm next-phase priorities and responsibilities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0B674-C138-4575-B301-DA43D083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9D4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9D4CF"/>
                </a:solidFill>
                <a:latin typeface="Helvetica Neue"/>
                <a:ea typeface="Helvetica Neue"/>
                <a:cs typeface="Helvetica Neue"/>
              </a:rPr>
              <a:t>Nouhaila and Ismail</a:t>
            </a:r>
          </a:p>
        </p:txBody>
      </p:sp>
    </p:spTree>
    <p:extLst>
      <p:ext uri="{BB962C8B-B14F-4D97-AF65-F5344CB8AC3E}">
        <p14:creationId xmlns:p14="http://schemas.microsoft.com/office/powerpoint/2010/main" val="747125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B4867-A371-4E7C-A4D7-D408CA74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UM6P GLOBAL HUBS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73C2E-2FA1-4AE0-9D4B-8DCF8311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rPr>
              <a:t>Progress ready to demonstrate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7A093-08E9-4C01-9A86-0F3CEAF8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27546-01E9-4F99-AF57-FA31123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7632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1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Connected results: organizations display their people, including multiple affiliations.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1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Saved maps: reopen results and partial work, and switch pages without losing the map view.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1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Cost controls: track estimated spending by stage, with a $2 default budget and explicit approval for $3 total.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1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Updated interface: clearer navigation and result cards using UM6P orange.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1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Initial hub suggestions: match existing hub locations or flag assignments for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475B6-3757-49C8-8167-920785C2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rPr>
              <a:t>Spending remains an estimate. Hub suggestions do not create approved database links.</a:t>
            </a:r>
          </a:p>
        </p:txBody>
      </p:sp>
    </p:spTree>
    <p:extLst>
      <p:ext uri="{BB962C8B-B14F-4D97-AF65-F5344CB8AC3E}">
        <p14:creationId xmlns:p14="http://schemas.microsoft.com/office/powerpoint/2010/main" val="1872702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2651C-785C-4B63-877F-6CB5F27D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UM6P GLOBAL HUBS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A3DB1-C0A8-463B-B930-E2B32D43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rPr>
              <a:t>Actor architecture: current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5A963-40B7-4DEE-A37F-19E1BC6F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04311-B5E0-48EA-8D6D-26641427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Currently in the Actor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20936-A841-40BB-A927-C3F12BF3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24025"/>
            <a:ext cx="4619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Supported in related 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2076F-0589-4794-B446-05D6F9C7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62625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Actor name and category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Description and official website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City, state, and country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technical focus and technical approach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activities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Technology and IP notes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Key constraints and funding summary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Estimated TRL and primary lifecycle role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 status and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92824-9453-47CB-8E48-5CD59E71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4619625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Ecosystem hub and sector/topic relationships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Project/challenge relevance and relevance score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Maturity risk and collaboration orientation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Value for UM6P and partnership entry points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7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Supporting evidence and 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61A08-13C0-49A8-86DB-2A401C61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Decision: agree on required common fields and category-specific additions.</a:t>
            </a:r>
          </a:p>
        </p:txBody>
      </p:sp>
    </p:spTree>
    <p:extLst>
      <p:ext uri="{BB962C8B-B14F-4D97-AF65-F5344CB8AC3E}">
        <p14:creationId xmlns:p14="http://schemas.microsoft.com/office/powerpoint/2010/main" val="778978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556D2-30AD-4292-80EB-DBB9BD7D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UM6P GLOBAL HUBS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BF0C5-5731-4122-88E8-8DCFA874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rPr>
              <a:t>Build the Map: information for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7781A-942C-4B54-A26E-4C2B02A0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965C9-AAF3-4BAE-8D37-57FF6F8E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Suggested information on each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BF128-9FF0-4397-90D6-AEE6A52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04837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Actor name, category, and location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Short description and relevance to the topic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Potential value for UM6P GHUS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Suggested ecosystem hub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Relevant people and their roles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Official website and supporting sources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 status, gaps, and uncertainties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E2B4B-1F27-414A-AF3F-EDC5042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24025"/>
            <a:ext cx="4286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Decisions to agree 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D7E22-6ED8-48BB-B075-0EC7C038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4286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Is this enough to decide whether to add an actor?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Which details should appear immediately, and which should be expandable?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What must be verified before adding an actor?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77860-7018-4AFA-A8B5-EC627BB6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Objective: agree on the information users need before accepting an actor.</a:t>
            </a:r>
          </a:p>
        </p:txBody>
      </p:sp>
    </p:spTree>
    <p:extLst>
      <p:ext uri="{BB962C8B-B14F-4D97-AF65-F5344CB8AC3E}">
        <p14:creationId xmlns:p14="http://schemas.microsoft.com/office/powerpoint/2010/main" val="10636088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7410B-CAA4-4DBF-8FE8-9849464E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UM6P GLOBAL HUBS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DED11-2780-425A-8BBC-1CB5FC35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rPr>
              <a:t>Ecosystem hubs and admission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4CDB6-68D7-4D1D-AFDB-50D951F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ADC16-A58D-4315-8D59-45455C2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Hub mapping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ADAA8-A4E1-463E-91CF-1D388DF7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905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Use six dimensions: academic excellence, applied research, industry presence, expert talent, innovation platforms, and global engagement.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Link actors to existing hubs where appropriate.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Propose new hubs when evidence supports a distinct regional ecosystem.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A4615-AEB4-4B2C-AA99-48C2BE38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24025"/>
            <a:ext cx="438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Decisions to confirm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46760-F4E3-47E0-A68B-221839F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9800"/>
            <a:ext cx="43815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How do we define hub boundaries?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What evidence supports a new hub?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Who approves hubs and actor membership?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195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What makes an actor worth adding, including discoveries from Ismail’s agent?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3911-A644-4520-89A3-ACAA53D9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Outcome: agreed admission criteria and approval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915617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863CB-0183-4494-A326-4B7DD57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UM6P GLOBAL HUBS 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EFAB5-245D-418F-85BE-F941F09B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02D2B"/>
                </a:solidFill>
                <a:latin typeface="Helvetica Neue"/>
                <a:ea typeface="Helvetica Neue"/>
                <a:cs typeface="Helvetica Neue"/>
              </a:rPr>
              <a:t>Remaining work and next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23B1B-66EE-4934-98F7-C779E71D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8646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1A3110-305E-4AAE-ADE0-D3137852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7632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0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Full hub discovery, assessment, and approved database linking.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0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 acceptance testing, batch exclusions, and the database-add workflow.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0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Explicit geography override and map-completion notifications.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0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Criteria-based event discovery beyond the original sources.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0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Existing-person updates and admission criteria for Ismail’s agent.</a:t>
            </a:r>
          </a:p>
          <a:p xmlns:a="http://schemas.openxmlformats.org/drawingml/2006/main">
            <a:pPr marL="203200" indent="-114300">
              <a:spcAft>
                <a:spcPts val="1000"/>
              </a:spcAft>
              <a:buChar char="•"/>
              <a:defRPr sz="2025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t>Later phase: per-user accounts and personal search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DB612-3BB5-4B84-8021-1E42616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Proposed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A9C5C-8CFF-44AD-B6CC-BAECEBE8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rPr>
              <a:t>Agree on schema and admission rules, complete review and database integration,</a:t>
            </a:r>
          </a:p>
          <a:p xmlns:a="http://schemas.openxmlformats.org/drawingml/2006/main">
            <a:pPr>
              <a:def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02D2B"/>
                </a:solidFill>
                <a:latin typeface="Helvetica Neue"/>
                <a:ea typeface="Helvetica Neue"/>
                <a:cs typeface="Helvetica Neue"/>
              </a:rPr>
              <a:t>then expand hub mapping and address the remaining features.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BEB4A-A5AE-461B-9A38-38BA9B93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7410B"/>
                </a:solidFill>
                <a:latin typeface="Helvetica Neue"/>
                <a:ea typeface="Helvetica Neue"/>
                <a:cs typeface="Helvetica Neue"/>
              </a:rPr>
              <a:t>Meeting outcome: confirmed priorities, owners, and review dates.</a:t>
            </a:r>
          </a:p>
        </p:txBody>
      </p:sp>
    </p:spTree>
    <p:extLst>
      <p:ext uri="{BB962C8B-B14F-4D97-AF65-F5344CB8AC3E}">
        <p14:creationId xmlns:p14="http://schemas.microsoft.com/office/powerpoint/2010/main" val="360280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2026-09-14T13:31:17.9730000Z</dcterms:created>
  <dcterms:modified xsi:type="dcterms:W3CDTF">2026-09-14T13:31:17.9730000Z</dcterms:modified>
</coreProperties>
</file>